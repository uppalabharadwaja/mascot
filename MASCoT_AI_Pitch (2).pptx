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F5EBC2-3CBD-4483-B3D9-B90142FAF8E7}">
  <a:tblStyle styleId="{E4F5EBC2-3CBD-4483-B3D9-B90142FAF8E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a34f8796d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fa34f8796d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a34f8796d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b2f98f7df_1_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g3fb2f98f7df_1_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b2f98f7df_1_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a34f8796d_0_1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g3fa34f8796d_0_1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a34f8796d_0_1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a34f8796d_0_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g3fa34f8796d_0_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a34f8796d_0_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b2f98f7df_1_1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g3fb2f98f7df_1_1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b2f98f7df_1_1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1C729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10972800" y="-320040"/>
            <a:ext cx="2194560" cy="2194560"/>
          </a:xfrm>
          <a:prstGeom prst="ellipse">
            <a:avLst/>
          </a:prstGeom>
          <a:solidFill>
            <a:srgbClr val="F2994A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868680" y="32461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MArket SCanning Tool</a:t>
            </a:r>
            <a:endParaRPr b="0" i="0" sz="1800" u="none" cap="none" strike="noStrike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Google Shape;16;p3"/>
          <p:cNvCxnSpPr/>
          <p:nvPr/>
        </p:nvCxnSpPr>
        <p:spPr>
          <a:xfrm>
            <a:off x="868680" y="3886200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/>
        </p:nvSpPr>
        <p:spPr>
          <a:xfrm>
            <a:off x="868680" y="406908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AI-powered market scanning &amp; lead discovery agent for the paint industry</a:t>
            </a:r>
            <a:endParaRPr b="0" i="0" sz="1600" u="none" cap="none" strike="noStrike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75" y="1621452"/>
            <a:ext cx="4314849" cy="16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48640" y="1051560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Paint sales reps must spot project-driven demand fast — but today that means digging manually through financials, tenders, news and social signals, using tools that were never built for the paint industry.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48640" y="2057400"/>
            <a:ext cx="2578608" cy="2743200"/>
          </a:xfrm>
          <a:prstGeom prst="roundRect">
            <a:avLst>
              <a:gd fmla="val 3546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1453896" y="2350008"/>
            <a:ext cx="768096" cy="7680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8488" y="251460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/>
        </p:nvSpPr>
        <p:spPr>
          <a:xfrm>
            <a:off x="713232" y="3264408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Manual, Multi-Source Research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731520" y="3931920"/>
            <a:ext cx="22128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Hours lost per week hunting for company &amp; project signals across news, tenders and filings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328416" y="2057400"/>
            <a:ext cx="2578608" cy="2743200"/>
          </a:xfrm>
          <a:prstGeom prst="roundRect">
            <a:avLst>
              <a:gd fmla="val 3546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233672" y="2350008"/>
            <a:ext cx="768096" cy="7680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8264" y="251460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493008" y="3264408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Generic, Industry-Agnostic Tools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3511296" y="3931920"/>
            <a:ext cx="22128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Clay, ZoomInfo &amp; CRMs give broad data, not paint-specific demand signals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108192" y="2057400"/>
            <a:ext cx="2578608" cy="2743200"/>
          </a:xfrm>
          <a:prstGeom prst="roundRect">
            <a:avLst>
              <a:gd fmla="val 3546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013448" y="2350008"/>
            <a:ext cx="768096" cy="7680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8040" y="251460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/>
        </p:nvSpPr>
        <p:spPr>
          <a:xfrm>
            <a:off x="6272784" y="3264408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No Visibility into Client Pipeline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6291072" y="3931920"/>
            <a:ext cx="22128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Reps miss early construction, OEM and industrial signals competitors act on first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887968" y="2057400"/>
            <a:ext cx="2578608" cy="2743200"/>
          </a:xfrm>
          <a:prstGeom prst="roundRect">
            <a:avLst>
              <a:gd fmla="val 3546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793224" y="2350008"/>
            <a:ext cx="768096" cy="7680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57816" y="251460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 txBox="1"/>
          <p:nvPr/>
        </p:nvSpPr>
        <p:spPr>
          <a:xfrm>
            <a:off x="9052560" y="3264408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Same Pitch for Every Client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9070848" y="3931920"/>
            <a:ext cx="22128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Without financial &amp; project context, product recommendations aren’t tailored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Our Solution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8640" y="1143000"/>
            <a:ext cx="11091672" cy="1554480"/>
          </a:xfrm>
          <a:prstGeom prst="roundRect">
            <a:avLst>
              <a:gd fmla="val 4706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48640" y="1143000"/>
            <a:ext cx="82296" cy="155448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 txBox="1"/>
          <p:nvPr/>
        </p:nvSpPr>
        <p:spPr>
          <a:xfrm>
            <a:off x="914400" y="1280160"/>
            <a:ext cx="10424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i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“For sales reps who want to identify and qualify the right clients before every meeting — MASCoT AI is a paint-industry-specific market scanning agent that automates prospect research, financial analysis, and personalized outreach.”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What makes it different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3474720"/>
            <a:ext cx="3520440" cy="214884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804672" y="3730752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38679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/>
          <p:nvPr/>
        </p:nvSpPr>
        <p:spPr>
          <a:xfrm>
            <a:off x="804672" y="4526280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Paint-Specific Signals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804672" y="4892040"/>
            <a:ext cx="300837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Construction permits, OEM schedules &amp; anti-corrosion regulation updates — not generic B2B data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352544" y="3474720"/>
            <a:ext cx="3520440" cy="214884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608576" y="3730752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5736" y="38679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 txBox="1"/>
          <p:nvPr/>
        </p:nvSpPr>
        <p:spPr>
          <a:xfrm>
            <a:off x="4608576" y="4526280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Agentic Automation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4608576" y="4892040"/>
            <a:ext cx="300837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Web-scanning agent turns scattered signals into one summarized report per prospect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156448" y="3474720"/>
            <a:ext cx="3520440" cy="214884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8412480" y="3730752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9640" y="38679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 txBox="1"/>
          <p:nvPr/>
        </p:nvSpPr>
        <p:spPr>
          <a:xfrm>
            <a:off x="8412480" y="4526280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Verified, Low-Hallucination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8412480" y="4892040"/>
            <a:ext cx="300837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Fed on an authentic paint sales lifecycle for maximum relevance and minimum bias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Development </a:t>
            </a:r>
            <a:r>
              <a:rPr b="1" lang="en-US" sz="34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Approach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design-thinking process, from user empathy to a testable prototype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6"/>
          <p:cNvCxnSpPr/>
          <p:nvPr/>
        </p:nvCxnSpPr>
        <p:spPr>
          <a:xfrm>
            <a:off x="1965960" y="2148840"/>
            <a:ext cx="8649900" cy="17400"/>
          </a:xfrm>
          <a:prstGeom prst="straightConnector1">
            <a:avLst/>
          </a:prstGeom>
          <a:noFill/>
          <a:ln cap="flat" cmpd="sng" w="25400">
            <a:solidFill>
              <a:srgbClr val="D5DAE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9" name="Google Shape;79;p6"/>
          <p:cNvSpPr/>
          <p:nvPr/>
        </p:nvSpPr>
        <p:spPr>
          <a:xfrm>
            <a:off x="2240280" y="1837944"/>
            <a:ext cx="621792" cy="621792"/>
          </a:xfrm>
          <a:prstGeom prst="ellipse">
            <a:avLst/>
          </a:prstGeom>
          <a:solidFill>
            <a:srgbClr val="1B2A4A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7440" y="19751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6"/>
          <p:cNvSpPr/>
          <p:nvPr/>
        </p:nvSpPr>
        <p:spPr>
          <a:xfrm>
            <a:off x="905256" y="2514600"/>
            <a:ext cx="3291840" cy="3017520"/>
          </a:xfrm>
          <a:prstGeom prst="roundRect">
            <a:avLst>
              <a:gd fmla="val 3030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1161288" y="2770632"/>
            <a:ext cx="27797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EMPATHIZE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1161288" y="3136392"/>
            <a:ext cx="27797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Who &amp; why are we building this?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6"/>
          <p:cNvCxnSpPr/>
          <p:nvPr/>
        </p:nvCxnSpPr>
        <p:spPr>
          <a:xfrm>
            <a:off x="1161288" y="3995928"/>
            <a:ext cx="2779776" cy="0"/>
          </a:xfrm>
          <a:prstGeom prst="straightConnector1">
            <a:avLst/>
          </a:prstGeom>
          <a:noFill/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6"/>
          <p:cNvSpPr txBox="1"/>
          <p:nvPr/>
        </p:nvSpPr>
        <p:spPr>
          <a:xfrm>
            <a:off x="1161288" y="4160520"/>
            <a:ext cx="277977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B2B sales reps, sales managers, BD and marketing teams at paint companies who lose hours a week to manual, multi-source research.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989320" y="1837944"/>
            <a:ext cx="621792" cy="621792"/>
          </a:xfrm>
          <a:prstGeom prst="ellipse">
            <a:avLst/>
          </a:prstGeom>
          <a:solidFill>
            <a:srgbClr val="1C7293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19751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4654296" y="2514600"/>
            <a:ext cx="3291840" cy="3017520"/>
          </a:xfrm>
          <a:prstGeom prst="roundRect">
            <a:avLst>
              <a:gd fmla="val 3030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4910328" y="2770632"/>
            <a:ext cx="27797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DEFINE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4910328" y="3136392"/>
            <a:ext cx="27797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What are we building?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6"/>
          <p:cNvCxnSpPr/>
          <p:nvPr/>
        </p:nvCxnSpPr>
        <p:spPr>
          <a:xfrm>
            <a:off x="4910328" y="3995928"/>
            <a:ext cx="2779776" cy="0"/>
          </a:xfrm>
          <a:prstGeom prst="straightConnector1">
            <a:avLst/>
          </a:prstGeom>
          <a:noFill/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6"/>
          <p:cNvSpPr txBox="1"/>
          <p:nvPr/>
        </p:nvSpPr>
        <p:spPr>
          <a:xfrm>
            <a:off x="4910328" y="4160520"/>
            <a:ext cx="277977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 AI agent that scans the market, aggregates financial, news and social signals, and finds potential leads for the client.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9738360" y="1837944"/>
            <a:ext cx="621792" cy="621792"/>
          </a:xfrm>
          <a:prstGeom prst="ellipse">
            <a:avLst/>
          </a:prstGeom>
          <a:solidFill>
            <a:srgbClr val="F2994A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75520" y="19751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8403336" y="2514600"/>
            <a:ext cx="3291840" cy="3017520"/>
          </a:xfrm>
          <a:prstGeom prst="roundRect">
            <a:avLst>
              <a:gd fmla="val 3030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8659368" y="2770632"/>
            <a:ext cx="27797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PROTOTYPE &amp; TEST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8659368" y="3136392"/>
            <a:ext cx="27797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How are we building it?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6"/>
          <p:cNvCxnSpPr/>
          <p:nvPr/>
        </p:nvCxnSpPr>
        <p:spPr>
          <a:xfrm>
            <a:off x="8659368" y="3995928"/>
            <a:ext cx="2779776" cy="0"/>
          </a:xfrm>
          <a:prstGeom prst="straightConnector1">
            <a:avLst/>
          </a:prstGeom>
          <a:noFill/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 txBox="1"/>
          <p:nvPr/>
        </p:nvSpPr>
        <p:spPr>
          <a:xfrm>
            <a:off x="8659368" y="4160520"/>
            <a:ext cx="277977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 AI agent that performs market scanning, report generation and financial-detail analysis — validated through Regression and A/B testing.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Key Features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MVP feature set, prioritized with the MoSCoW framework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48640" y="1600200"/>
            <a:ext cx="3520440" cy="1600200"/>
          </a:xfrm>
          <a:prstGeom prst="roundRect">
            <a:avLst>
              <a:gd fmla="val 5714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8562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 txBox="1"/>
          <p:nvPr/>
        </p:nvSpPr>
        <p:spPr>
          <a:xfrm>
            <a:off x="804672" y="2377440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Industry-Level Market Scanning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804672" y="2715768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Scans projects, tenders, news &amp; social signals for paint demand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352544" y="1600200"/>
            <a:ext cx="3520440" cy="1600200"/>
          </a:xfrm>
          <a:prstGeom prst="roundRect">
            <a:avLst>
              <a:gd fmla="val 5714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8576" y="18562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 txBox="1"/>
          <p:nvPr/>
        </p:nvSpPr>
        <p:spPr>
          <a:xfrm>
            <a:off x="4608576" y="2377440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Automated Insight Reports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4608576" y="2715768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One summarized, ready-to-use company report per prospect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156448" y="1600200"/>
            <a:ext cx="3520440" cy="1600200"/>
          </a:xfrm>
          <a:prstGeom prst="roundRect">
            <a:avLst>
              <a:gd fmla="val 5714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2480" y="18562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 txBox="1"/>
          <p:nvPr/>
        </p:nvSpPr>
        <p:spPr>
          <a:xfrm>
            <a:off x="8412480" y="2377440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Product-to-L</a:t>
            </a:r>
            <a:r>
              <a:rPr b="1" lang="en-US" sz="13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ead</a:t>
            </a:r>
            <a:r>
              <a:rPr b="1" lang="en-US" sz="13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matching engine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8412480" y="2715768"/>
            <a:ext cx="300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Market identification with product - consumer mapping with the users prompt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Feature Prioritisation (MoSCoW)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48640" y="3931920"/>
            <a:ext cx="3520440" cy="457200"/>
          </a:xfrm>
          <a:prstGeom prst="roundRect">
            <a:avLst>
              <a:gd fmla="val 14000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548640" y="393192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Must Have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48640" y="4480560"/>
            <a:ext cx="3520440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749808" y="4645152"/>
            <a:ext cx="311810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Char char="▪"/>
            </a:pP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Industry-level market scanning for paint leads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Char char="▪"/>
            </a:pP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Automated company insights report per prospect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352544" y="3931920"/>
            <a:ext cx="3520440" cy="457200"/>
          </a:xfrm>
          <a:prstGeom prst="roundRect">
            <a:avLst>
              <a:gd fmla="val 14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4352544" y="393192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Should Have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352544" y="4480560"/>
            <a:ext cx="3520440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4553712" y="4645152"/>
            <a:ext cx="311810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Char char="▪"/>
            </a:pP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-to-Lead matching engine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Char char="▪"/>
            </a:pP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Client financial &amp; order-history reports</a:t>
            </a:r>
            <a:endParaRPr sz="11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8156448" y="3931920"/>
            <a:ext cx="3520440" cy="457200"/>
          </a:xfrm>
          <a:prstGeom prst="roundRect">
            <a:avLst>
              <a:gd fmla="val 14000" name="adj"/>
            </a:avLst>
          </a:prstGeom>
          <a:solidFill>
            <a:srgbClr val="F29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8156448" y="393192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Could Have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156448" y="4480560"/>
            <a:ext cx="3520440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8357616" y="4645152"/>
            <a:ext cx="311810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Char char="▪"/>
            </a:pP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Cold-email automation to leads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Char char="▪"/>
            </a:pP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Workflow automation incl. scheduling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/>
        </p:nvSpPr>
        <p:spPr>
          <a:xfrm>
            <a:off x="548640" y="41148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AI Agent Architecture</a:t>
            </a:r>
            <a:endParaRPr b="1" sz="3400">
              <a:solidFill>
                <a:srgbClr val="1B2A4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38" name="Google Shape;138;p8"/>
          <p:cNvCxnSpPr/>
          <p:nvPr/>
        </p:nvCxnSpPr>
        <p:spPr>
          <a:xfrm flipH="1" rot="10800000">
            <a:off x="637225" y="1485500"/>
            <a:ext cx="10860600" cy="600"/>
          </a:xfrm>
          <a:prstGeom prst="straightConnector1">
            <a:avLst/>
          </a:prstGeom>
          <a:noFill/>
          <a:ln cap="flat" cmpd="sng" w="20775">
            <a:solidFill>
              <a:srgbClr val="D5DAE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9" name="Google Shape;139;p8"/>
          <p:cNvSpPr/>
          <p:nvPr/>
        </p:nvSpPr>
        <p:spPr>
          <a:xfrm>
            <a:off x="1765349" y="1282886"/>
            <a:ext cx="418800" cy="418800"/>
          </a:xfrm>
          <a:prstGeom prst="ellipse">
            <a:avLst/>
          </a:prstGeom>
          <a:solidFill>
            <a:srgbClr val="1B2A4A"/>
          </a:solidFill>
          <a:ln cap="flat" cmpd="sng" w="31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1765349" y="1282886"/>
            <a:ext cx="4188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9"/>
              <a:buFont typeface="Cambria"/>
              <a:buNone/>
            </a:pPr>
            <a:r>
              <a:rPr b="1" lang="en-US" sz="130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3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946352" y="1754091"/>
            <a:ext cx="2056800" cy="213150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04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62326" rotWithShape="0" algn="bl" dir="5400000" dist="20775">
              <a:srgbClr val="000000">
                <a:alpha val="10200"/>
              </a:srgbClr>
            </a:outerShdw>
          </a:effectLst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1095900" y="2163628"/>
            <a:ext cx="1757700" cy="12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63"/>
              <a:buFont typeface="Cambria"/>
              <a:buNone/>
            </a:pPr>
            <a:r>
              <a:rPr b="1" lang="en-US" sz="1663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Get Product Info from Sales Representatives</a:t>
            </a:r>
            <a:endParaRPr sz="16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863910" y="1282886"/>
            <a:ext cx="418800" cy="418800"/>
          </a:xfrm>
          <a:prstGeom prst="ellipse">
            <a:avLst/>
          </a:prstGeom>
          <a:solidFill>
            <a:srgbClr val="1C7293"/>
          </a:solidFill>
          <a:ln cap="flat" cmpd="sng" w="31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5863910" y="1282886"/>
            <a:ext cx="4188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9"/>
              <a:buFont typeface="Cambria"/>
              <a:buNone/>
            </a:pPr>
            <a:r>
              <a:rPr b="1" lang="en-US" sz="130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3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044913" y="1754091"/>
            <a:ext cx="2056800" cy="213150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04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62326" rotWithShape="0" algn="bl" dir="5400000" dist="20775">
              <a:srgbClr val="000000">
                <a:alpha val="10200"/>
              </a:srgbClr>
            </a:outerShdw>
          </a:effectLst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5194451" y="2163628"/>
            <a:ext cx="1757700" cy="12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63"/>
              <a:buFont typeface="Cambria"/>
              <a:buNone/>
            </a:pPr>
            <a:r>
              <a:rPr b="1" lang="en-US" sz="1663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Identify Suitable Industries for these products</a:t>
            </a:r>
            <a:endParaRPr sz="16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9962496" y="1277474"/>
            <a:ext cx="418800" cy="418800"/>
          </a:xfrm>
          <a:prstGeom prst="ellipse">
            <a:avLst/>
          </a:prstGeom>
          <a:solidFill>
            <a:srgbClr val="1B2A4A"/>
          </a:solidFill>
          <a:ln cap="flat" cmpd="sng" w="31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/>
          </a:p>
        </p:txBody>
      </p:sp>
      <p:sp>
        <p:nvSpPr>
          <p:cNvPr id="148" name="Google Shape;148;p8"/>
          <p:cNvSpPr txBox="1"/>
          <p:nvPr/>
        </p:nvSpPr>
        <p:spPr>
          <a:xfrm>
            <a:off x="9962496" y="1277474"/>
            <a:ext cx="4188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9"/>
              <a:buFont typeface="Cambria"/>
              <a:buNone/>
            </a:pPr>
            <a:r>
              <a:rPr b="1" lang="en-US" sz="130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3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9143499" y="1748679"/>
            <a:ext cx="2056800" cy="213150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04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62326" rotWithShape="0" algn="bl" dir="5400000" dist="20775">
              <a:srgbClr val="000000">
                <a:alpha val="10200"/>
              </a:srgbClr>
            </a:outerShdw>
          </a:effectLst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9293027" y="2158216"/>
            <a:ext cx="1757700" cy="12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63"/>
              <a:buFont typeface="Cambria"/>
              <a:buNone/>
            </a:pPr>
            <a:r>
              <a:rPr b="1" lang="en-US" sz="1663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Get List of Companies from these industries</a:t>
            </a:r>
            <a:endParaRPr sz="166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8"/>
          <p:cNvGrpSpPr/>
          <p:nvPr/>
        </p:nvGrpSpPr>
        <p:grpSpPr>
          <a:xfrm>
            <a:off x="8729600" y="4639150"/>
            <a:ext cx="2884557" cy="1918800"/>
            <a:chOff x="4570801" y="4274500"/>
            <a:chExt cx="3186300" cy="1918800"/>
          </a:xfrm>
        </p:grpSpPr>
        <p:sp>
          <p:nvSpPr>
            <p:cNvPr id="152" name="Google Shape;152;p8"/>
            <p:cNvSpPr/>
            <p:nvPr/>
          </p:nvSpPr>
          <p:spPr>
            <a:xfrm>
              <a:off x="4570801" y="4274500"/>
              <a:ext cx="3186300" cy="1918800"/>
            </a:xfrm>
            <a:prstGeom prst="roundRect">
              <a:avLst>
                <a:gd fmla="val 3273" name="adj"/>
              </a:avLst>
            </a:prstGeom>
            <a:solidFill>
              <a:srgbClr val="FFFFFF"/>
            </a:solidFill>
            <a:ln cap="flat" cmpd="sng" w="9350">
              <a:solidFill>
                <a:srgbClr val="E5E8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6106" rotWithShape="0" algn="bl" dir="5400000" dist="18702">
                <a:srgbClr val="000000">
                  <a:alpha val="10200"/>
                </a:srgbClr>
              </a:outerShdw>
            </a:effectLst>
          </p:spPr>
          <p:txBody>
            <a:bodyPr anchorCtr="0" anchor="ctr" bIns="67325" lIns="67325" spcFirstLastPara="1" rIns="67325" wrap="square" tIns="67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8"/>
            <p:cNvSpPr txBox="1"/>
            <p:nvPr/>
          </p:nvSpPr>
          <p:spPr>
            <a:xfrm>
              <a:off x="4685488" y="4727150"/>
              <a:ext cx="29649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957"/>
                <a:buFont typeface="Cambria"/>
                <a:buNone/>
              </a:pPr>
              <a:r>
                <a:rPr b="1" lang="en-US" sz="1657">
                  <a:solidFill>
                    <a:srgbClr val="1B2A4A"/>
                  </a:solidFill>
                  <a:latin typeface="Cambria"/>
                  <a:ea typeface="Cambria"/>
                  <a:cs typeface="Cambria"/>
                  <a:sym typeface="Cambria"/>
                </a:rPr>
                <a:t>Sales Strategy Agent</a:t>
              </a:r>
              <a:r>
                <a:rPr b="1" lang="en-US" sz="1657">
                  <a:solidFill>
                    <a:srgbClr val="1B2A4A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  <a:r>
                <a:rPr b="1" lang="en-US" sz="1657">
                  <a:solidFill>
                    <a:srgbClr val="1B2A4A"/>
                  </a:solidFill>
                  <a:latin typeface="Cambria"/>
                  <a:ea typeface="Cambria"/>
                  <a:cs typeface="Cambria"/>
                  <a:sym typeface="Cambria"/>
                </a:rPr>
                <a:t>- Phase 2</a:t>
              </a:r>
              <a:endParaRPr sz="165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4" name="Google Shape;154;p8"/>
          <p:cNvCxnSpPr>
            <a:endCxn id="145" idx="1"/>
          </p:cNvCxnSpPr>
          <p:nvPr/>
        </p:nvCxnSpPr>
        <p:spPr>
          <a:xfrm>
            <a:off x="3003113" y="2819841"/>
            <a:ext cx="204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8"/>
          <p:cNvCxnSpPr>
            <a:endCxn id="149" idx="1"/>
          </p:cNvCxnSpPr>
          <p:nvPr/>
        </p:nvCxnSpPr>
        <p:spPr>
          <a:xfrm flipH="1" rot="10800000">
            <a:off x="7101699" y="2814429"/>
            <a:ext cx="20418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8"/>
          <p:cNvCxnSpPr>
            <a:stCxn id="149" idx="2"/>
            <a:endCxn id="152" idx="0"/>
          </p:cNvCxnSpPr>
          <p:nvPr/>
        </p:nvCxnSpPr>
        <p:spPr>
          <a:xfrm>
            <a:off x="10171899" y="3880179"/>
            <a:ext cx="0" cy="75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8"/>
          <p:cNvCxnSpPr/>
          <p:nvPr/>
        </p:nvCxnSpPr>
        <p:spPr>
          <a:xfrm>
            <a:off x="629075" y="4438350"/>
            <a:ext cx="10864800" cy="4800"/>
          </a:xfrm>
          <a:prstGeom prst="straightConnector1">
            <a:avLst/>
          </a:prstGeom>
          <a:noFill/>
          <a:ln cap="flat" cmpd="sng" w="20775">
            <a:solidFill>
              <a:srgbClr val="D5DAE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8" name="Google Shape;158;p8"/>
          <p:cNvCxnSpPr/>
          <p:nvPr/>
        </p:nvCxnSpPr>
        <p:spPr>
          <a:xfrm>
            <a:off x="645350" y="1469825"/>
            <a:ext cx="0" cy="2979000"/>
          </a:xfrm>
          <a:prstGeom prst="straightConnector1">
            <a:avLst/>
          </a:prstGeom>
          <a:noFill/>
          <a:ln cap="flat" cmpd="sng" w="20775">
            <a:solidFill>
              <a:srgbClr val="D5DAE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9" name="Google Shape;159;p8"/>
          <p:cNvCxnSpPr/>
          <p:nvPr/>
        </p:nvCxnSpPr>
        <p:spPr>
          <a:xfrm flipH="1">
            <a:off x="11501525" y="1541275"/>
            <a:ext cx="7200" cy="2913000"/>
          </a:xfrm>
          <a:prstGeom prst="straightConnector1">
            <a:avLst/>
          </a:prstGeom>
          <a:noFill/>
          <a:ln cap="flat" cmpd="sng" w="20775">
            <a:solidFill>
              <a:srgbClr val="D5DAE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0" name="Google Shape;160;p8"/>
          <p:cNvSpPr txBox="1"/>
          <p:nvPr/>
        </p:nvSpPr>
        <p:spPr>
          <a:xfrm>
            <a:off x="4606425" y="3669483"/>
            <a:ext cx="268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7"/>
              <a:buFont typeface="Cambria"/>
              <a:buNone/>
            </a:pPr>
            <a:r>
              <a:rPr b="1" lang="en-US" sz="1657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Phase 1</a:t>
            </a:r>
            <a:endParaRPr sz="165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/>
        </p:nvSpPr>
        <p:spPr>
          <a:xfrm>
            <a:off x="548640" y="41148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AI Agent Architecture</a:t>
            </a:r>
            <a:endParaRPr b="1" sz="3400">
              <a:solidFill>
                <a:srgbClr val="1B2A4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67" name="Google Shape;167;p9"/>
          <p:cNvCxnSpPr/>
          <p:nvPr/>
        </p:nvCxnSpPr>
        <p:spPr>
          <a:xfrm flipH="1" rot="10800000">
            <a:off x="1109609" y="1491311"/>
            <a:ext cx="10299376" cy="1000"/>
          </a:xfrm>
          <a:prstGeom prst="straightConnector1">
            <a:avLst/>
          </a:prstGeom>
          <a:noFill/>
          <a:ln cap="flat" cmpd="sng" w="20775">
            <a:solidFill>
              <a:srgbClr val="D5DAE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8" name="Google Shape;168;p9"/>
          <p:cNvSpPr/>
          <p:nvPr/>
        </p:nvSpPr>
        <p:spPr>
          <a:xfrm>
            <a:off x="1367649" y="1282886"/>
            <a:ext cx="418920" cy="418920"/>
          </a:xfrm>
          <a:prstGeom prst="ellipse">
            <a:avLst/>
          </a:prstGeom>
          <a:solidFill>
            <a:srgbClr val="1B2A4A"/>
          </a:solidFill>
          <a:ln cap="flat" cmpd="sng" w="31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1367649" y="1282886"/>
            <a:ext cx="418920" cy="41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9"/>
              <a:buFont typeface="Cambria"/>
              <a:buNone/>
            </a:pPr>
            <a:r>
              <a:rPr b="1" lang="en-US" sz="130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3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48652" y="1754091"/>
            <a:ext cx="2056942" cy="2131595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04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62326" rotWithShape="0" algn="bl" dir="5400000" dist="20775">
              <a:srgbClr val="000000">
                <a:alpha val="10200"/>
              </a:srgbClr>
            </a:outerShdw>
          </a:effectLst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698241" y="1797737"/>
            <a:ext cx="1757666" cy="41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63"/>
              <a:buFont typeface="Cambria"/>
              <a:buNone/>
            </a:pPr>
            <a:r>
              <a:rPr b="1" lang="en-US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Company Agent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698241" y="2246665"/>
            <a:ext cx="1757666" cy="115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2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Sources: DuckDuckGo search: LinkedIn, Wikipedia, Volza.</a:t>
            </a:r>
            <a:endParaRPr sz="1222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2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22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Extracts description, projects, key decision makers.</a:t>
            </a:r>
            <a:endParaRPr sz="9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626435" y="1282886"/>
            <a:ext cx="418920" cy="418920"/>
          </a:xfrm>
          <a:prstGeom prst="ellipse">
            <a:avLst/>
          </a:prstGeom>
          <a:solidFill>
            <a:srgbClr val="1C7293"/>
          </a:solidFill>
          <a:ln cap="flat" cmpd="sng" w="31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3626435" y="1282886"/>
            <a:ext cx="418920" cy="41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9"/>
              <a:buFont typeface="Cambria"/>
              <a:buNone/>
            </a:pPr>
            <a:r>
              <a:rPr b="1" lang="en-US" sz="130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3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2807438" y="1754091"/>
            <a:ext cx="2056942" cy="2131595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04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62326" rotWithShape="0" algn="bl" dir="5400000" dist="20775">
              <a:srgbClr val="000000">
                <a:alpha val="10200"/>
              </a:srgbClr>
            </a:outerShdw>
          </a:effectLst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2957027" y="1797737"/>
            <a:ext cx="1757666" cy="41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63"/>
              <a:buFont typeface="Cambria"/>
              <a:buNone/>
            </a:pPr>
            <a:r>
              <a:rPr b="1" lang="en-US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Financial Agent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2957027" y="2246665"/>
            <a:ext cx="1757666" cy="115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22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Sources: yFinance, NSE/BSE, SEC filings.</a:t>
            </a:r>
            <a:endParaRPr sz="1222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22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22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Extracts revenue, profit, capex, and investments.</a:t>
            </a:r>
            <a:endParaRPr sz="1555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885221" y="1282886"/>
            <a:ext cx="418920" cy="418920"/>
          </a:xfrm>
          <a:prstGeom prst="ellipse">
            <a:avLst/>
          </a:prstGeom>
          <a:solidFill>
            <a:srgbClr val="1B2A4A"/>
          </a:solidFill>
          <a:ln cap="flat" cmpd="sng" w="31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/>
          </a:p>
        </p:txBody>
      </p:sp>
      <p:sp>
        <p:nvSpPr>
          <p:cNvPr id="179" name="Google Shape;179;p9"/>
          <p:cNvSpPr txBox="1"/>
          <p:nvPr/>
        </p:nvSpPr>
        <p:spPr>
          <a:xfrm>
            <a:off x="5885221" y="1282886"/>
            <a:ext cx="418920" cy="41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9"/>
              <a:buFont typeface="Cambria"/>
              <a:buNone/>
            </a:pPr>
            <a:r>
              <a:rPr b="1" lang="en-US" sz="130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3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066224" y="1754091"/>
            <a:ext cx="2056942" cy="2131595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04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62326" rotWithShape="0" algn="bl" dir="5400000" dist="20775">
              <a:srgbClr val="000000">
                <a:alpha val="10200"/>
              </a:srgbClr>
            </a:outerShdw>
          </a:effectLst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5215812" y="1797737"/>
            <a:ext cx="1757666" cy="41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63"/>
              <a:buFont typeface="Cambria"/>
              <a:buNone/>
            </a:pPr>
            <a:r>
              <a:rPr b="1" lang="en-US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News Agent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5215812" y="2246665"/>
            <a:ext cx="1757666" cy="115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22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Sources: Google News RSS, Reuters, Economic Times.</a:t>
            </a:r>
            <a:endParaRPr sz="1222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22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22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Extracts expansion, </a:t>
            </a:r>
            <a:endParaRPr sz="1222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22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acquisitions, partnerships.</a:t>
            </a:r>
            <a:endParaRPr sz="1555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8144007" y="1282886"/>
            <a:ext cx="418920" cy="418920"/>
          </a:xfrm>
          <a:prstGeom prst="ellipse">
            <a:avLst/>
          </a:prstGeom>
          <a:solidFill>
            <a:srgbClr val="1C7293"/>
          </a:solidFill>
          <a:ln cap="flat" cmpd="sng" w="31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8144007" y="1282886"/>
            <a:ext cx="418920" cy="41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9"/>
              <a:buFont typeface="Cambria"/>
              <a:buNone/>
            </a:pPr>
            <a:r>
              <a:rPr b="1" lang="en-US" sz="130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3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325010" y="1754091"/>
            <a:ext cx="2056942" cy="2131595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04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62326" rotWithShape="0" algn="bl" dir="5400000" dist="20775">
              <a:srgbClr val="000000">
                <a:alpha val="10200"/>
              </a:srgbClr>
            </a:outerShdw>
          </a:effectLst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7474598" y="1797737"/>
            <a:ext cx="1757666" cy="41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63"/>
              <a:buFont typeface="Cambria"/>
              <a:buNone/>
            </a:pPr>
            <a:r>
              <a:rPr b="1" lang="en-US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Social Media Agent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7474598" y="2246665"/>
            <a:ext cx="1757666" cy="115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22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Sources: Customer reviews, Twitter/X sentiment, PR mentions.</a:t>
            </a:r>
            <a:endParaRPr sz="1222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22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22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Generates sentiment score.</a:t>
            </a:r>
            <a:endParaRPr sz="9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402800" y="1281775"/>
            <a:ext cx="418920" cy="418920"/>
          </a:xfrm>
          <a:prstGeom prst="ellipse">
            <a:avLst/>
          </a:prstGeom>
          <a:solidFill>
            <a:srgbClr val="1C7293"/>
          </a:solidFill>
          <a:ln cap="flat" cmpd="sng" w="31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9583803" y="1752980"/>
            <a:ext cx="2056942" cy="2131595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04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62326" rotWithShape="0" algn="bl" dir="5400000" dist="20775">
              <a:srgbClr val="000000">
                <a:alpha val="10200"/>
              </a:srgbClr>
            </a:outerShdw>
          </a:effectLst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9733391" y="1796626"/>
            <a:ext cx="1757666" cy="41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63"/>
              <a:buFont typeface="Cambria"/>
              <a:buNone/>
            </a:pPr>
            <a:r>
              <a:rPr b="1" lang="en-US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Procurement</a:t>
            </a:r>
            <a:r>
              <a:rPr b="1" lang="en-US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 Agent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9733391" y="2245554"/>
            <a:ext cx="1757666" cy="1159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22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Sources: RERA, GeM, government tender portals.</a:t>
            </a:r>
            <a:endParaRPr sz="155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22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22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Extracts procurement patterns, past contracts.</a:t>
            </a:r>
            <a:endParaRPr sz="9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0402807" y="1281775"/>
            <a:ext cx="418920" cy="418920"/>
          </a:xfrm>
          <a:prstGeom prst="ellipse">
            <a:avLst/>
          </a:prstGeom>
          <a:solidFill>
            <a:srgbClr val="1B2A4A"/>
          </a:solidFill>
          <a:ln cap="flat" cmpd="sng" w="31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800" lIns="74800" spcFirstLastPara="1" rIns="74800" wrap="square" tIns="74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/>
          </a:p>
        </p:txBody>
      </p:sp>
      <p:sp>
        <p:nvSpPr>
          <p:cNvPr id="193" name="Google Shape;193;p9"/>
          <p:cNvSpPr txBox="1"/>
          <p:nvPr/>
        </p:nvSpPr>
        <p:spPr>
          <a:xfrm>
            <a:off x="10402800" y="1282886"/>
            <a:ext cx="418920" cy="41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9"/>
              <a:buFont typeface="Cambria"/>
              <a:buNone/>
            </a:pPr>
            <a:r>
              <a:rPr b="1" lang="en-US" sz="130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30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" name="Google Shape;194;p9"/>
          <p:cNvGrpSpPr/>
          <p:nvPr/>
        </p:nvGrpSpPr>
        <p:grpSpPr>
          <a:xfrm>
            <a:off x="4501488" y="4652050"/>
            <a:ext cx="3186300" cy="1918800"/>
            <a:chOff x="4570801" y="4274500"/>
            <a:chExt cx="3186300" cy="1918800"/>
          </a:xfrm>
        </p:grpSpPr>
        <p:sp>
          <p:nvSpPr>
            <p:cNvPr id="195" name="Google Shape;195;p9"/>
            <p:cNvSpPr/>
            <p:nvPr/>
          </p:nvSpPr>
          <p:spPr>
            <a:xfrm>
              <a:off x="4570801" y="4274500"/>
              <a:ext cx="3186300" cy="1918800"/>
            </a:xfrm>
            <a:prstGeom prst="roundRect">
              <a:avLst>
                <a:gd fmla="val 3273" name="adj"/>
              </a:avLst>
            </a:prstGeom>
            <a:solidFill>
              <a:srgbClr val="FFFFFF"/>
            </a:solidFill>
            <a:ln cap="flat" cmpd="sng" w="9350">
              <a:solidFill>
                <a:srgbClr val="E5E8E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6106" rotWithShape="0" algn="bl" dir="5400000" dist="18702">
                <a:srgbClr val="000000">
                  <a:alpha val="10200"/>
                </a:srgbClr>
              </a:outerShdw>
            </a:effectLst>
          </p:spPr>
          <p:txBody>
            <a:bodyPr anchorCtr="0" anchor="ctr" bIns="67325" lIns="67325" spcFirstLastPara="1" rIns="67325" wrap="square" tIns="67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9"/>
            <p:cNvSpPr txBox="1"/>
            <p:nvPr/>
          </p:nvSpPr>
          <p:spPr>
            <a:xfrm>
              <a:off x="4763574" y="4313775"/>
              <a:ext cx="28011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957"/>
                <a:buFont typeface="Cambria"/>
                <a:buNone/>
              </a:pPr>
              <a:r>
                <a:rPr b="1" lang="en-US">
                  <a:solidFill>
                    <a:srgbClr val="1B2A4A"/>
                  </a:solidFill>
                  <a:latin typeface="Cambria"/>
                  <a:ea typeface="Cambria"/>
                  <a:cs typeface="Cambria"/>
                  <a:sym typeface="Cambria"/>
                </a:rPr>
                <a:t>Sales Strategy</a:t>
              </a:r>
              <a:r>
                <a:rPr b="1" lang="en-US">
                  <a:solidFill>
                    <a:srgbClr val="1B2A4A"/>
                  </a:solidFill>
                  <a:latin typeface="Cambria"/>
                  <a:ea typeface="Cambria"/>
                  <a:cs typeface="Cambria"/>
                  <a:sym typeface="Cambria"/>
                </a:rPr>
                <a:t> Agent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9"/>
            <p:cNvSpPr txBox="1"/>
            <p:nvPr/>
          </p:nvSpPr>
          <p:spPr>
            <a:xfrm>
              <a:off x="4763574" y="4717900"/>
              <a:ext cx="2801100" cy="10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1200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Receives all 5 context windows. </a:t>
              </a:r>
              <a:endParaRPr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1200">
                  <a:solidFill>
                    <a:srgbClr val="4A5568"/>
                  </a:solidFill>
                  <a:latin typeface="Calibri"/>
                  <a:ea typeface="Calibri"/>
                  <a:cs typeface="Calibri"/>
                  <a:sym typeface="Calibri"/>
                </a:rPr>
                <a:t>Uses a structured system prompt to generate a full JSON: pitch strategy, key selling points, signals, financial summary, and decision makers.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B7280"/>
                </a:buClr>
                <a:buSzPts val="810"/>
                <a:buFont typeface="Calibri"/>
                <a:buNone/>
              </a:pPr>
              <a:r>
                <a:t/>
              </a:r>
              <a:endParaRPr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8" name="Google Shape;198;p9"/>
          <p:cNvCxnSpPr/>
          <p:nvPr/>
        </p:nvCxnSpPr>
        <p:spPr>
          <a:xfrm flipH="1" rot="10800000">
            <a:off x="1584725" y="4334825"/>
            <a:ext cx="90348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9"/>
          <p:cNvCxnSpPr>
            <a:stCxn id="170" idx="2"/>
          </p:cNvCxnSpPr>
          <p:nvPr/>
        </p:nvCxnSpPr>
        <p:spPr>
          <a:xfrm>
            <a:off x="1577123" y="3885686"/>
            <a:ext cx="4500" cy="4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9"/>
          <p:cNvCxnSpPr>
            <a:stCxn id="175" idx="2"/>
          </p:cNvCxnSpPr>
          <p:nvPr/>
        </p:nvCxnSpPr>
        <p:spPr>
          <a:xfrm flipH="1">
            <a:off x="3831709" y="3885686"/>
            <a:ext cx="4200" cy="44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9"/>
          <p:cNvCxnSpPr>
            <a:stCxn id="180" idx="2"/>
          </p:cNvCxnSpPr>
          <p:nvPr/>
        </p:nvCxnSpPr>
        <p:spPr>
          <a:xfrm>
            <a:off x="6094695" y="3885686"/>
            <a:ext cx="0" cy="44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9"/>
          <p:cNvCxnSpPr>
            <a:stCxn id="185" idx="2"/>
          </p:cNvCxnSpPr>
          <p:nvPr/>
        </p:nvCxnSpPr>
        <p:spPr>
          <a:xfrm flipH="1">
            <a:off x="8351981" y="3885686"/>
            <a:ext cx="1500" cy="4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9"/>
          <p:cNvCxnSpPr>
            <a:stCxn id="189" idx="2"/>
          </p:cNvCxnSpPr>
          <p:nvPr/>
        </p:nvCxnSpPr>
        <p:spPr>
          <a:xfrm>
            <a:off x="10612274" y="3884575"/>
            <a:ext cx="1200" cy="45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9"/>
          <p:cNvCxnSpPr>
            <a:endCxn id="195" idx="0"/>
          </p:cNvCxnSpPr>
          <p:nvPr/>
        </p:nvCxnSpPr>
        <p:spPr>
          <a:xfrm>
            <a:off x="6093438" y="4338250"/>
            <a:ext cx="1200" cy="3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10"/>
          <p:cNvCxnSpPr>
            <a:stCxn id="211" idx="2"/>
          </p:cNvCxnSpPr>
          <p:nvPr/>
        </p:nvCxnSpPr>
        <p:spPr>
          <a:xfrm>
            <a:off x="10612203" y="3884480"/>
            <a:ext cx="1200" cy="45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0"/>
          <p:cNvSpPr txBox="1"/>
          <p:nvPr/>
        </p:nvSpPr>
        <p:spPr>
          <a:xfrm>
            <a:off x="548640" y="384048"/>
            <a:ext cx="10515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GTM Strategy (</a:t>
            </a:r>
            <a:r>
              <a:rPr b="1" i="0" lang="en-US" sz="28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Segmentation, Targeting &amp; Positioning)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548640" y="914400"/>
            <a:ext cx="10515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...and the 7M’s that guide how we take it to market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48640" y="1417320"/>
            <a:ext cx="4343400" cy="14814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548640" y="1417320"/>
            <a:ext cx="82200" cy="1481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 txBox="1"/>
          <p:nvPr/>
        </p:nvSpPr>
        <p:spPr>
          <a:xfrm>
            <a:off x="822960" y="1554480"/>
            <a:ext cx="388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Segmentation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822960" y="1892808"/>
            <a:ext cx="38862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By industry (Construction, Industrial, Automotive OEM, Designers/EPC), company size, and needs/behaviour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48640" y="3026664"/>
            <a:ext cx="4343400" cy="14814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48640" y="3026664"/>
            <a:ext cx="82200" cy="1481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 txBox="1"/>
          <p:nvPr/>
        </p:nvSpPr>
        <p:spPr>
          <a:xfrm>
            <a:off x="822960" y="3163824"/>
            <a:ext cx="388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Targeting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822960" y="3502152"/>
            <a:ext cx="38862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Medium/large B2B paint manufacturers in India with dedicated sales teams — highest willingness to pay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48640" y="4636008"/>
            <a:ext cx="4343400" cy="14814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5E8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548640" y="4636008"/>
            <a:ext cx="82200" cy="148140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822960" y="4773168"/>
            <a:ext cx="388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2994A"/>
                </a:solidFill>
                <a:latin typeface="Cambria"/>
                <a:ea typeface="Cambria"/>
                <a:cs typeface="Cambria"/>
                <a:sym typeface="Cambria"/>
              </a:rPr>
              <a:t>Positioning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822960" y="5111496"/>
            <a:ext cx="38862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only AI sales-intelligence platform purpose-built for paint, with verified industry-specific signals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193792" y="1417320"/>
            <a:ext cx="6446400" cy="4709100"/>
          </a:xfrm>
          <a:prstGeom prst="roundRect">
            <a:avLst>
              <a:gd fmla="val 1942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 txBox="1"/>
          <p:nvPr/>
        </p:nvSpPr>
        <p:spPr>
          <a:xfrm>
            <a:off x="5468112" y="1581912"/>
            <a:ext cx="589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7M’s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5468112" y="2039112"/>
            <a:ext cx="12801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2994A"/>
                </a:solidFill>
                <a:latin typeface="Cambria"/>
                <a:ea typeface="Cambria"/>
                <a:cs typeface="Cambria"/>
                <a:sym typeface="Cambria"/>
              </a:rPr>
              <a:t>Mission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6793992" y="2039112"/>
            <a:ext cx="4572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CF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CFB"/>
                </a:solidFill>
                <a:latin typeface="Calibri"/>
                <a:ea typeface="Calibri"/>
                <a:cs typeface="Calibri"/>
                <a:sym typeface="Calibri"/>
              </a:rPr>
              <a:t>Create awareness first, then improve lead generation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330952" y="2601468"/>
            <a:ext cx="6172200" cy="562500"/>
          </a:xfrm>
          <a:prstGeom prst="rect">
            <a:avLst/>
          </a:prstGeom>
          <a:solidFill>
            <a:srgbClr val="141F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5468112" y="2601468"/>
            <a:ext cx="12801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2994A"/>
                </a:solidFill>
                <a:latin typeface="Cambria"/>
                <a:ea typeface="Cambria"/>
                <a:cs typeface="Cambria"/>
                <a:sym typeface="Cambria"/>
              </a:rPr>
              <a:t>Market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6793992" y="2601468"/>
            <a:ext cx="4572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CF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CFB"/>
                </a:solidFill>
                <a:latin typeface="Calibri"/>
                <a:ea typeface="Calibri"/>
                <a:cs typeface="Calibri"/>
                <a:sym typeface="Calibri"/>
              </a:rPr>
              <a:t>Paint manufacturers &amp; distributors across Indian cities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5468112" y="3163824"/>
            <a:ext cx="12801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2994A"/>
                </a:solidFill>
                <a:latin typeface="Cambria"/>
                <a:ea typeface="Cambria"/>
                <a:cs typeface="Cambria"/>
                <a:sym typeface="Cambria"/>
              </a:rPr>
              <a:t>Media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6793992" y="3163824"/>
            <a:ext cx="4572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CF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CFB"/>
                </a:solidFill>
                <a:latin typeface="Calibri"/>
                <a:ea typeface="Calibri"/>
                <a:cs typeface="Calibri"/>
                <a:sym typeface="Calibri"/>
              </a:rPr>
              <a:t>LinkedIn, Google, blogs, </a:t>
            </a:r>
            <a:r>
              <a:rPr lang="en-US" sz="1150">
                <a:solidFill>
                  <a:srgbClr val="E6ECFB"/>
                </a:solidFill>
                <a:latin typeface="Calibri"/>
                <a:ea typeface="Calibri"/>
                <a:cs typeface="Calibri"/>
                <a:sym typeface="Calibri"/>
              </a:rPr>
              <a:t>social media</a:t>
            </a:r>
            <a:r>
              <a:rPr b="0" i="0" lang="en-US" sz="1150" u="none" cap="none" strike="noStrike">
                <a:solidFill>
                  <a:srgbClr val="E6ECFB"/>
                </a:solidFill>
                <a:latin typeface="Calibri"/>
                <a:ea typeface="Calibri"/>
                <a:cs typeface="Calibri"/>
                <a:sym typeface="Calibri"/>
              </a:rPr>
              <a:t> ads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330952" y="3726180"/>
            <a:ext cx="6172200" cy="562500"/>
          </a:xfrm>
          <a:prstGeom prst="rect">
            <a:avLst/>
          </a:prstGeom>
          <a:solidFill>
            <a:srgbClr val="141F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5468112" y="3726180"/>
            <a:ext cx="12801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2994A"/>
                </a:solidFill>
                <a:latin typeface="Cambria"/>
                <a:ea typeface="Cambria"/>
                <a:cs typeface="Cambria"/>
                <a:sym typeface="Cambria"/>
              </a:rPr>
              <a:t>Message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6793992" y="3726180"/>
            <a:ext cx="4572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CF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CFB"/>
                </a:solidFill>
                <a:latin typeface="Calibri"/>
                <a:ea typeface="Calibri"/>
                <a:cs typeface="Calibri"/>
                <a:sym typeface="Calibri"/>
              </a:rPr>
              <a:t>“Never miss your next big paint sales opportunity”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5468112" y="4288536"/>
            <a:ext cx="12801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2994A"/>
                </a:solidFill>
                <a:latin typeface="Cambria"/>
                <a:ea typeface="Cambria"/>
                <a:cs typeface="Cambria"/>
                <a:sym typeface="Cambria"/>
              </a:rPr>
              <a:t>Money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6793992" y="4288536"/>
            <a:ext cx="4572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CF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CFB"/>
                </a:solidFill>
                <a:latin typeface="Calibri"/>
                <a:ea typeface="Calibri"/>
                <a:cs typeface="Calibri"/>
                <a:sym typeface="Calibri"/>
              </a:rPr>
              <a:t>~10% of the product budget to marketing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330952" y="4850892"/>
            <a:ext cx="6172200" cy="562500"/>
          </a:xfrm>
          <a:prstGeom prst="rect">
            <a:avLst/>
          </a:prstGeom>
          <a:solidFill>
            <a:srgbClr val="141F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5468112" y="4850892"/>
            <a:ext cx="12801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2994A"/>
                </a:solidFill>
                <a:latin typeface="Cambria"/>
                <a:ea typeface="Cambria"/>
                <a:cs typeface="Cambria"/>
                <a:sym typeface="Cambria"/>
              </a:rPr>
              <a:t>Moment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6793992" y="4850892"/>
            <a:ext cx="4572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CF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CFB"/>
                </a:solidFill>
                <a:latin typeface="Calibri"/>
                <a:ea typeface="Calibri"/>
                <a:cs typeface="Calibri"/>
                <a:sym typeface="Calibri"/>
              </a:rPr>
              <a:t>Post-Monsoon &amp; Festive Quarter (Sept–Jan) peak demand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5468112" y="5413248"/>
            <a:ext cx="12801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2994A"/>
                </a:solidFill>
                <a:latin typeface="Cambria"/>
                <a:ea typeface="Cambria"/>
                <a:cs typeface="Cambria"/>
                <a:sym typeface="Cambria"/>
              </a:rPr>
              <a:t>Metrics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6793992" y="5413248"/>
            <a:ext cx="4572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CF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6ECFB"/>
                </a:solidFill>
                <a:latin typeface="Calibri"/>
                <a:ea typeface="Calibri"/>
                <a:cs typeface="Calibri"/>
                <a:sym typeface="Calibri"/>
              </a:rPr>
              <a:t>CTR, conversion, ARPU, churn rate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 txBox="1"/>
          <p:nvPr/>
        </p:nvSpPr>
        <p:spPr>
          <a:xfrm>
            <a:off x="548640" y="238059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Market Opportunity &amp; Impact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30300" y="988612"/>
            <a:ext cx="3520500" cy="1454700"/>
          </a:xfrm>
          <a:prstGeom prst="roundRect">
            <a:avLst>
              <a:gd fmla="val 5405" name="adj"/>
            </a:avLst>
          </a:prstGeom>
          <a:solidFill>
            <a:srgbClr val="141F38"/>
          </a:solidFill>
          <a:ln cap="flat" cmpd="sng" w="12700">
            <a:solidFill>
              <a:srgbClr val="2A3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758890" y="1171483"/>
            <a:ext cx="3063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2994A"/>
                </a:solidFill>
                <a:latin typeface="Cambria"/>
                <a:ea typeface="Cambria"/>
                <a:cs typeface="Cambria"/>
                <a:sym typeface="Cambria"/>
              </a:rPr>
              <a:t>$303M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758890" y="1756438"/>
            <a:ext cx="306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758890" y="1940509"/>
            <a:ext cx="3063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59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Global paint-industry sales-software spend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334200" y="988613"/>
            <a:ext cx="3520500" cy="1454700"/>
          </a:xfrm>
          <a:prstGeom prst="roundRect">
            <a:avLst>
              <a:gd fmla="val 5405" name="adj"/>
            </a:avLst>
          </a:prstGeom>
          <a:solidFill>
            <a:srgbClr val="141F38"/>
          </a:solidFill>
          <a:ln cap="flat" cmpd="sng" w="12700">
            <a:solidFill>
              <a:srgbClr val="2A3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 txBox="1"/>
          <p:nvPr/>
        </p:nvSpPr>
        <p:spPr>
          <a:xfrm>
            <a:off x="4562794" y="1171483"/>
            <a:ext cx="3063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2994A"/>
                </a:solidFill>
                <a:latin typeface="Cambria"/>
                <a:ea typeface="Cambria"/>
                <a:cs typeface="Cambria"/>
                <a:sym typeface="Cambria"/>
              </a:rPr>
              <a:t>$258.6M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4562794" y="1756438"/>
            <a:ext cx="306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SAM </a:t>
            </a:r>
            <a:r>
              <a:rPr b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( 85% of TAM 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4504152" y="2022448"/>
            <a:ext cx="340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59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Software spend from </a:t>
            </a:r>
            <a:r>
              <a:rPr b="0" i="0" lang="en-US" sz="1000" u="none" cap="none" strike="noStrike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Industrial &amp; commercial paints segment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8138100" y="988611"/>
            <a:ext cx="3520500" cy="1454700"/>
          </a:xfrm>
          <a:prstGeom prst="roundRect">
            <a:avLst>
              <a:gd fmla="val 5405" name="adj"/>
            </a:avLst>
          </a:prstGeom>
          <a:solidFill>
            <a:srgbClr val="141F38"/>
          </a:solidFill>
          <a:ln cap="flat" cmpd="sng" w="12700">
            <a:solidFill>
              <a:srgbClr val="2A3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8366698" y="1171483"/>
            <a:ext cx="3063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2994A"/>
                </a:solidFill>
                <a:latin typeface="Cambria"/>
                <a:ea typeface="Cambria"/>
                <a:cs typeface="Cambria"/>
                <a:sym typeface="Cambria"/>
              </a:rPr>
              <a:t>$13.05M</a:t>
            </a:r>
            <a:endParaRPr b="0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8366698" y="1756438"/>
            <a:ext cx="306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SOM </a:t>
            </a:r>
            <a:r>
              <a:rPr b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( 5% of SAM 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8366700" y="2054800"/>
            <a:ext cx="320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59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India-specific obtainable market </a:t>
            </a:r>
            <a:r>
              <a:rPr lang="en-US" sz="1000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from Industrial &amp; </a:t>
            </a:r>
            <a:r>
              <a:rPr lang="en-US" sz="1000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commercial</a:t>
            </a:r>
            <a:r>
              <a:rPr lang="en-US" sz="1000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 segments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539453" y="2507733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Bottom-Up Revenue Forecast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4" name="Google Shape;264;p11"/>
          <p:cNvGraphicFramePr/>
          <p:nvPr/>
        </p:nvGraphicFramePr>
        <p:xfrm>
          <a:off x="557765" y="29088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{E4F5EBC2-3CBD-4483-B3D9-B90142FAF8E7}</a:tableStyleId>
              </a:tblPr>
              <a:tblGrid>
                <a:gridCol w="1417325"/>
                <a:gridCol w="1554475"/>
                <a:gridCol w="1417325"/>
                <a:gridCol w="1280150"/>
                <a:gridCol w="1508750"/>
                <a:gridCol w="1691650"/>
                <a:gridCol w="222200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Size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 of Companies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Avg. Employees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Team 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People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Price/Employee ($/yr)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Forecast ($)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15.4%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7,700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924,000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12.4%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109,120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8,729,600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2,100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33,600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1,680,000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F38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11,333,600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2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994A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p11"/>
          <p:cNvSpPr txBox="1"/>
          <p:nvPr/>
        </p:nvSpPr>
        <p:spPr>
          <a:xfrm>
            <a:off x="539453" y="5029872"/>
            <a:ext cx="1109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3B3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Sales people = Company count × Avg. employees × Sales-team %   ·   Revenue = Sales people × Price per employee/year (f</a:t>
            </a:r>
            <a:r>
              <a:rPr i="1" lang="en-US" sz="1000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i="1" lang="en-US" sz="1000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Subscription</a:t>
            </a:r>
            <a:r>
              <a:rPr i="1" lang="en-US" sz="1000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 model</a:t>
            </a:r>
            <a:r>
              <a:rPr b="0" i="1" lang="en-US" sz="1000" u="none" cap="none" strike="noStrike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) followed by Pay as you </a:t>
            </a:r>
            <a:r>
              <a:rPr i="1" lang="en-US" sz="1000">
                <a:solidFill>
                  <a:srgbClr val="8593B3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0007940" y="4790087"/>
            <a:ext cx="3840600" cy="3840600"/>
          </a:xfrm>
          <a:prstGeom prst="ellipse">
            <a:avLst/>
          </a:prstGeom>
          <a:solidFill>
            <a:srgbClr val="1C7293">
              <a:alpha val="18040"/>
            </a:srgbClr>
          </a:solidFill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567000" y="5623125"/>
            <a:ext cx="11091600" cy="932700"/>
          </a:xfrm>
          <a:prstGeom prst="roundRect">
            <a:avLst>
              <a:gd fmla="val 1256" name="adj"/>
            </a:avLst>
          </a:prstGeom>
          <a:solidFill>
            <a:srgbClr val="141F38"/>
          </a:solidFill>
          <a:ln cap="flat" cmpd="sng" w="12700">
            <a:solidFill>
              <a:srgbClr val="2A3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777260" y="5833884"/>
            <a:ext cx="10515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5275" lvl="0" marL="4572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Reduction in manual effort and time to identify new prospective clients.</a:t>
            </a:r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 customer conversion rate</a:t>
            </a:r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Char char="●"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Potential for growth in cross sales</a:t>
            </a:r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567003" y="5282802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Impact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/>
          <p:nvPr/>
        </p:nvSpPr>
        <p:spPr>
          <a:xfrm>
            <a:off x="9418320" y="-1280160"/>
            <a:ext cx="4206300" cy="4206300"/>
          </a:xfrm>
          <a:prstGeom prst="ellipse">
            <a:avLst/>
          </a:prstGeom>
          <a:solidFill>
            <a:srgbClr val="1C7293">
              <a:alpha val="2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10972800" y="-320040"/>
            <a:ext cx="2194500" cy="2194500"/>
          </a:xfrm>
          <a:prstGeom prst="ellipse">
            <a:avLst/>
          </a:prstGeom>
          <a:solidFill>
            <a:srgbClr val="F2994A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-1463040" y="4754880"/>
            <a:ext cx="3840600" cy="3840600"/>
          </a:xfrm>
          <a:prstGeom prst="ellipse">
            <a:avLst/>
          </a:prstGeom>
          <a:solidFill>
            <a:srgbClr val="1C7293">
              <a:alpha val="180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 txBox="1"/>
          <p:nvPr/>
        </p:nvSpPr>
        <p:spPr>
          <a:xfrm>
            <a:off x="822960" y="2679776"/>
            <a:ext cx="9601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lang="en-US" sz="5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2"/>
          <p:cNvCxnSpPr/>
          <p:nvPr/>
        </p:nvCxnSpPr>
        <p:spPr>
          <a:xfrm>
            <a:off x="868680" y="3886200"/>
            <a:ext cx="201180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