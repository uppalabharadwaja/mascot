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DM Sans"/>
      <p:bold r:id="rId14"/>
      <p:boldItalic r:id="rId15"/>
    </p:embeddedFont>
    <p:embeddedFont>
      <p:font typeface="Noto Sans JP"/>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31">
          <p15:clr>
            <a:srgbClr val="A4A3A4"/>
          </p15:clr>
        </p15:guide>
        <p15:guide id="2" orient="horz" pos="2160">
          <p15:clr>
            <a:srgbClr val="A4A3A4"/>
          </p15:clr>
        </p15:guide>
      </p15:sldGuideLst>
    </p:ext>
    <p:ext uri="GoogleSlidesCustomDataVersion2">
      <go:slidesCustomData xmlns:go="http://customooxmlschemas.google.com/" r:id="rId18" roundtripDataSignature="AMtx7mjCkpBYsZyig1pR9ty5fHnTTysN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31"/>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DMSans-boldItalic.fntdata"/><Relationship Id="rId14" Type="http://schemas.openxmlformats.org/officeDocument/2006/relationships/font" Target="fonts/DMSans-bold.fntdata"/><Relationship Id="rId17" Type="http://schemas.openxmlformats.org/officeDocument/2006/relationships/font" Target="fonts/NotoSansJP-bold.fntdata"/><Relationship Id="rId16" Type="http://schemas.openxmlformats.org/officeDocument/2006/relationships/font" Target="fonts/NotoSansJP-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Key Attribute</a:t>
            </a:r>
            <a:endParaRPr/>
          </a:p>
          <a:p>
            <a:pPr indent="0" lvl="0" marL="0" rtl="0" algn="l">
              <a:spcBef>
                <a:spcPts val="0"/>
              </a:spcBef>
              <a:spcAft>
                <a:spcPts val="0"/>
              </a:spcAft>
              <a:buNone/>
            </a:pPr>
            <a:r>
              <a:rPr lang="en-US"/>
              <a:t>Short Description</a:t>
            </a:r>
            <a:endParaRPr/>
          </a:p>
          <a:p>
            <a:pPr indent="0" lvl="0" marL="0" rtl="0" algn="l">
              <a:spcBef>
                <a:spcPts val="0"/>
              </a:spcBef>
              <a:spcAft>
                <a:spcPts val="0"/>
              </a:spcAft>
              <a:buNone/>
            </a:pPr>
            <a:r>
              <a:rPr lang="en-US"/>
              <a:t>Needs</a:t>
            </a:r>
            <a:endParaRPr/>
          </a:p>
          <a:p>
            <a:pPr indent="0" lvl="0" marL="0" rtl="0" algn="l">
              <a:spcBef>
                <a:spcPts val="0"/>
              </a:spcBef>
              <a:spcAft>
                <a:spcPts val="0"/>
              </a:spcAft>
              <a:buNone/>
            </a:pPr>
            <a:r>
              <a:rPr lang="en-US"/>
              <a:t>Challenges</a:t>
            </a:r>
            <a:endParaRPr/>
          </a:p>
          <a:p>
            <a:pPr indent="0" lvl="0" marL="0" rtl="0" algn="l">
              <a:spcBef>
                <a:spcPts val="0"/>
              </a:spcBef>
              <a:spcAft>
                <a:spcPts val="0"/>
              </a:spcAft>
              <a:buNone/>
            </a:pPr>
            <a:r>
              <a:rPr lang="en-US"/>
              <a:t>Opportunities</a:t>
            </a:r>
            <a:endParaRPr/>
          </a:p>
          <a:p>
            <a:pPr indent="0" lvl="0" marL="0" rtl="0" algn="l">
              <a:spcBef>
                <a:spcPts val="0"/>
              </a:spcBef>
              <a:spcAft>
                <a:spcPts val="0"/>
              </a:spcAft>
              <a:buNone/>
            </a:pPr>
            <a:r>
              <a:t/>
            </a:r>
            <a:endParaRPr/>
          </a:p>
        </p:txBody>
      </p:sp>
      <p:sp>
        <p:nvSpPr>
          <p:cNvPr id="91" name="Google Shape;91;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Key Attribute</a:t>
            </a:r>
            <a:endParaRPr/>
          </a:p>
          <a:p>
            <a:pPr indent="0" lvl="0" marL="0" rtl="0" algn="l">
              <a:spcBef>
                <a:spcPts val="0"/>
              </a:spcBef>
              <a:spcAft>
                <a:spcPts val="0"/>
              </a:spcAft>
              <a:buNone/>
            </a:pPr>
            <a:r>
              <a:rPr lang="en-US"/>
              <a:t>Short Description</a:t>
            </a:r>
            <a:endParaRPr/>
          </a:p>
          <a:p>
            <a:pPr indent="0" lvl="0" marL="0" rtl="0" algn="l">
              <a:spcBef>
                <a:spcPts val="0"/>
              </a:spcBef>
              <a:spcAft>
                <a:spcPts val="0"/>
              </a:spcAft>
              <a:buNone/>
            </a:pPr>
            <a:r>
              <a:rPr lang="en-US"/>
              <a:t>Needs</a:t>
            </a:r>
            <a:endParaRPr/>
          </a:p>
          <a:p>
            <a:pPr indent="0" lvl="0" marL="0" rtl="0" algn="l">
              <a:spcBef>
                <a:spcPts val="0"/>
              </a:spcBef>
              <a:spcAft>
                <a:spcPts val="0"/>
              </a:spcAft>
              <a:buNone/>
            </a:pPr>
            <a:r>
              <a:rPr lang="en-US"/>
              <a:t>Challenges</a:t>
            </a:r>
            <a:endParaRPr/>
          </a:p>
          <a:p>
            <a:pPr indent="0" lvl="0" marL="0" rtl="0" algn="l">
              <a:spcBef>
                <a:spcPts val="0"/>
              </a:spcBef>
              <a:spcAft>
                <a:spcPts val="0"/>
              </a:spcAft>
              <a:buNone/>
            </a:pPr>
            <a:r>
              <a:rPr lang="en-US"/>
              <a:t>Opportunities</a:t>
            </a:r>
            <a:endParaRPr/>
          </a:p>
          <a:p>
            <a:pPr indent="0" lvl="0" marL="0" rtl="0" algn="l">
              <a:spcBef>
                <a:spcPts val="0"/>
              </a:spcBef>
              <a:spcAft>
                <a:spcPts val="0"/>
              </a:spcAft>
              <a:buNone/>
            </a:pPr>
            <a:r>
              <a:t/>
            </a:r>
            <a:endParaRPr/>
          </a:p>
        </p:txBody>
      </p:sp>
      <p:sp>
        <p:nvSpPr>
          <p:cNvPr id="130" name="Google Shape;13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Key Attribute</a:t>
            </a:r>
            <a:endParaRPr/>
          </a:p>
          <a:p>
            <a:pPr indent="0" lvl="0" marL="0" rtl="0" algn="l">
              <a:spcBef>
                <a:spcPts val="0"/>
              </a:spcBef>
              <a:spcAft>
                <a:spcPts val="0"/>
              </a:spcAft>
              <a:buNone/>
            </a:pPr>
            <a:r>
              <a:rPr lang="en-US"/>
              <a:t>Short Description</a:t>
            </a:r>
            <a:endParaRPr/>
          </a:p>
          <a:p>
            <a:pPr indent="0" lvl="0" marL="0" rtl="0" algn="l">
              <a:spcBef>
                <a:spcPts val="0"/>
              </a:spcBef>
              <a:spcAft>
                <a:spcPts val="0"/>
              </a:spcAft>
              <a:buNone/>
            </a:pPr>
            <a:r>
              <a:rPr lang="en-US"/>
              <a:t>Needs</a:t>
            </a:r>
            <a:endParaRPr/>
          </a:p>
          <a:p>
            <a:pPr indent="0" lvl="0" marL="0" rtl="0" algn="l">
              <a:spcBef>
                <a:spcPts val="0"/>
              </a:spcBef>
              <a:spcAft>
                <a:spcPts val="0"/>
              </a:spcAft>
              <a:buNone/>
            </a:pPr>
            <a:r>
              <a:rPr lang="en-US"/>
              <a:t>Challenges</a:t>
            </a:r>
            <a:endParaRPr/>
          </a:p>
          <a:p>
            <a:pPr indent="0" lvl="0" marL="0" rtl="0" algn="l">
              <a:spcBef>
                <a:spcPts val="0"/>
              </a:spcBef>
              <a:spcAft>
                <a:spcPts val="0"/>
              </a:spcAft>
              <a:buNone/>
            </a:pPr>
            <a:r>
              <a:rPr lang="en-US"/>
              <a:t>Opportunities</a:t>
            </a:r>
            <a:endParaRPr/>
          </a:p>
          <a:p>
            <a:pPr indent="0" lvl="0" marL="0" rtl="0" algn="l">
              <a:spcBef>
                <a:spcPts val="0"/>
              </a:spcBef>
              <a:spcAft>
                <a:spcPts val="0"/>
              </a:spcAft>
              <a:buNone/>
            </a:pPr>
            <a:r>
              <a:t/>
            </a:r>
            <a:endParaRPr/>
          </a:p>
        </p:txBody>
      </p:sp>
      <p:sp>
        <p:nvSpPr>
          <p:cNvPr id="169" name="Google Shape;169;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2b2c32063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e2b2c32063_2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Key Attribute</a:t>
            </a:r>
            <a:endParaRPr/>
          </a:p>
          <a:p>
            <a:pPr indent="0" lvl="0" marL="0" rtl="0" algn="l">
              <a:spcBef>
                <a:spcPts val="0"/>
              </a:spcBef>
              <a:spcAft>
                <a:spcPts val="0"/>
              </a:spcAft>
              <a:buNone/>
            </a:pPr>
            <a:r>
              <a:rPr lang="en-US"/>
              <a:t>Short Description</a:t>
            </a:r>
            <a:endParaRPr/>
          </a:p>
          <a:p>
            <a:pPr indent="0" lvl="0" marL="0" rtl="0" algn="l">
              <a:spcBef>
                <a:spcPts val="0"/>
              </a:spcBef>
              <a:spcAft>
                <a:spcPts val="0"/>
              </a:spcAft>
              <a:buNone/>
            </a:pPr>
            <a:r>
              <a:rPr lang="en-US"/>
              <a:t>Needs</a:t>
            </a:r>
            <a:endParaRPr/>
          </a:p>
          <a:p>
            <a:pPr indent="0" lvl="0" marL="0" rtl="0" algn="l">
              <a:spcBef>
                <a:spcPts val="0"/>
              </a:spcBef>
              <a:spcAft>
                <a:spcPts val="0"/>
              </a:spcAft>
              <a:buNone/>
            </a:pPr>
            <a:r>
              <a:rPr lang="en-US"/>
              <a:t>Challenges</a:t>
            </a:r>
            <a:endParaRPr/>
          </a:p>
          <a:p>
            <a:pPr indent="0" lvl="0" marL="0" rtl="0" algn="l">
              <a:spcBef>
                <a:spcPts val="0"/>
              </a:spcBef>
              <a:spcAft>
                <a:spcPts val="0"/>
              </a:spcAft>
              <a:buNone/>
            </a:pPr>
            <a:r>
              <a:rPr lang="en-US"/>
              <a:t>Opportunities</a:t>
            </a:r>
            <a:endParaRPr/>
          </a:p>
          <a:p>
            <a:pPr indent="0" lvl="0" marL="0" rtl="0" algn="l">
              <a:spcBef>
                <a:spcPts val="0"/>
              </a:spcBef>
              <a:spcAft>
                <a:spcPts val="0"/>
              </a:spcAft>
              <a:buNone/>
            </a:pPr>
            <a:r>
              <a:t/>
            </a:r>
            <a:endParaRPr/>
          </a:p>
        </p:txBody>
      </p:sp>
      <p:sp>
        <p:nvSpPr>
          <p:cNvPr id="208" name="Google Shape;208;g3e2b2c32063_2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pic>
        <p:nvPicPr>
          <p:cNvPr id="18" name="Google Shape;18;p9"/>
          <p:cNvPicPr preferRelativeResize="0"/>
          <p:nvPr/>
        </p:nvPicPr>
        <p:blipFill rotWithShape="1">
          <a:blip r:embed="rId2">
            <a:alphaModFix/>
          </a:blip>
          <a:srcRect b="0" l="0" r="0" t="0"/>
          <a:stretch/>
        </p:blipFill>
        <p:spPr>
          <a:xfrm>
            <a:off x="1481" y="0"/>
            <a:ext cx="12189038" cy="6858000"/>
          </a:xfrm>
          <a:prstGeom prst="rect">
            <a:avLst/>
          </a:prstGeom>
          <a:noFill/>
          <a:ln>
            <a:noFill/>
          </a:ln>
        </p:spPr>
      </p:pic>
      <p:sp>
        <p:nvSpPr>
          <p:cNvPr id="19" name="Google Shape;19;p9"/>
          <p:cNvSpPr txBox="1"/>
          <p:nvPr>
            <p:ph type="ctrTitle"/>
          </p:nvPr>
        </p:nvSpPr>
        <p:spPr>
          <a:xfrm>
            <a:off x="4668718" y="1790471"/>
            <a:ext cx="6996405" cy="184177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000"/>
              <a:buFont typeface="Calibri"/>
              <a:buNone/>
              <a:defRPr sz="40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9"/>
          <p:cNvSpPr txBox="1"/>
          <p:nvPr>
            <p:ph idx="1" type="subTitle"/>
          </p:nvPr>
        </p:nvSpPr>
        <p:spPr>
          <a:xfrm>
            <a:off x="4668718" y="3724318"/>
            <a:ext cx="6996377" cy="612695"/>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100"/>
              <a:buNone/>
              <a:defRPr sz="2100">
                <a:solidFill>
                  <a:schemeClr val="lt1"/>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21" name="Google Shape;21;p9"/>
          <p:cNvCxnSpPr/>
          <p:nvPr/>
        </p:nvCxnSpPr>
        <p:spPr>
          <a:xfrm>
            <a:off x="4030450" y="2204560"/>
            <a:ext cx="0" cy="2132453"/>
          </a:xfrm>
          <a:prstGeom prst="straightConnector1">
            <a:avLst/>
          </a:prstGeom>
          <a:noFill/>
          <a:ln cap="flat" cmpd="sng" w="9525">
            <a:solidFill>
              <a:schemeClr val="lt1"/>
            </a:solidFill>
            <a:prstDash val="solid"/>
            <a:miter lim="800000"/>
            <a:headEnd len="sm" w="sm" type="none"/>
            <a:tailEnd len="sm" w="sm" type="none"/>
          </a:ln>
        </p:spPr>
      </p:cxnSp>
      <p:pic>
        <p:nvPicPr>
          <p:cNvPr id="22" name="Google Shape;22;p9"/>
          <p:cNvPicPr preferRelativeResize="0"/>
          <p:nvPr/>
        </p:nvPicPr>
        <p:blipFill rotWithShape="1">
          <a:blip r:embed="rId3">
            <a:alphaModFix/>
          </a:blip>
          <a:srcRect b="0" l="0" r="0" t="0"/>
          <a:stretch/>
        </p:blipFill>
        <p:spPr>
          <a:xfrm>
            <a:off x="915318" y="1790471"/>
            <a:ext cx="2365990" cy="303904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ontent">
  <p:cSld name="Text content">
    <p:spTree>
      <p:nvGrpSpPr>
        <p:cNvPr id="23" name="Shape 23"/>
        <p:cNvGrpSpPr/>
        <p:nvPr/>
      </p:nvGrpSpPr>
      <p:grpSpPr>
        <a:xfrm>
          <a:off x="0" y="0"/>
          <a:ext cx="0" cy="0"/>
          <a:chOff x="0" y="0"/>
          <a:chExt cx="0" cy="0"/>
        </a:xfrm>
      </p:grpSpPr>
      <p:sp>
        <p:nvSpPr>
          <p:cNvPr id="24" name="Google Shape;24;p10"/>
          <p:cNvSpPr txBox="1"/>
          <p:nvPr>
            <p:ph type="title"/>
          </p:nvPr>
        </p:nvSpPr>
        <p:spPr>
          <a:xfrm>
            <a:off x="550863" y="512763"/>
            <a:ext cx="10298967" cy="647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5285F"/>
              </a:buClr>
              <a:buSzPts val="2800"/>
              <a:buFont typeface="Calibri"/>
              <a:buNone/>
              <a:defRPr sz="2800">
                <a:solidFill>
                  <a:srgbClr val="25285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10"/>
          <p:cNvSpPr txBox="1"/>
          <p:nvPr>
            <p:ph idx="1" type="body"/>
          </p:nvPr>
        </p:nvSpPr>
        <p:spPr>
          <a:xfrm>
            <a:off x="803275" y="1520825"/>
            <a:ext cx="10585450" cy="46799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p:cSld name="Separator">
    <p:spTree>
      <p:nvGrpSpPr>
        <p:cNvPr id="29" name="Shape 29"/>
        <p:cNvGrpSpPr/>
        <p:nvPr/>
      </p:nvGrpSpPr>
      <p:grpSpPr>
        <a:xfrm>
          <a:off x="0" y="0"/>
          <a:ext cx="0" cy="0"/>
          <a:chOff x="0" y="0"/>
          <a:chExt cx="0" cy="0"/>
        </a:xfrm>
      </p:grpSpPr>
      <p:pic>
        <p:nvPicPr>
          <p:cNvPr id="30" name="Google Shape;30;p11"/>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31" name="Google Shape;31;p11"/>
          <p:cNvSpPr txBox="1"/>
          <p:nvPr>
            <p:ph type="title"/>
          </p:nvPr>
        </p:nvSpPr>
        <p:spPr>
          <a:xfrm>
            <a:off x="565639" y="1969476"/>
            <a:ext cx="7180386" cy="145952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1"/>
          <p:cNvSpPr txBox="1"/>
          <p:nvPr>
            <p:ph idx="1" type="body"/>
          </p:nvPr>
        </p:nvSpPr>
        <p:spPr>
          <a:xfrm>
            <a:off x="565150" y="3508742"/>
            <a:ext cx="7180263" cy="7286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100"/>
              <a:buNone/>
              <a:defRPr sz="210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600"/>
              <a:buNone/>
              <a:defRPr/>
            </a:lvl4pPr>
            <a:lvl5pPr indent="-228600" lvl="4" marL="2286000" algn="l">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 01">
  <p:cSld name="Content Type 01">
    <p:spTree>
      <p:nvGrpSpPr>
        <p:cNvPr id="33" name="Shape 33"/>
        <p:cNvGrpSpPr/>
        <p:nvPr/>
      </p:nvGrpSpPr>
      <p:grpSpPr>
        <a:xfrm>
          <a:off x="0" y="0"/>
          <a:ext cx="0" cy="0"/>
          <a:chOff x="0" y="0"/>
          <a:chExt cx="0" cy="0"/>
        </a:xfrm>
      </p:grpSpPr>
      <p:pic>
        <p:nvPicPr>
          <p:cNvPr id="34" name="Google Shape;34;p12"/>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35" name="Google Shape;35;p12"/>
          <p:cNvSpPr txBox="1"/>
          <p:nvPr>
            <p:ph type="title"/>
          </p:nvPr>
        </p:nvSpPr>
        <p:spPr>
          <a:xfrm>
            <a:off x="5741377" y="512762"/>
            <a:ext cx="5372099" cy="64770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5285F"/>
              </a:buClr>
              <a:buSzPts val="2800"/>
              <a:buFont typeface="Calibri"/>
              <a:buNone/>
              <a:defRPr sz="2800">
                <a:solidFill>
                  <a:srgbClr val="25285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2"/>
          <p:cNvSpPr txBox="1"/>
          <p:nvPr>
            <p:ph idx="1" type="body"/>
          </p:nvPr>
        </p:nvSpPr>
        <p:spPr>
          <a:xfrm>
            <a:off x="5741378" y="1520825"/>
            <a:ext cx="5372100" cy="46799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12"/>
          <p:cNvSpPr/>
          <p:nvPr>
            <p:ph idx="2" type="pic"/>
          </p:nvPr>
        </p:nvSpPr>
        <p:spPr>
          <a:xfrm>
            <a:off x="0" y="0"/>
            <a:ext cx="5372100" cy="68580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 02">
  <p:cSld name="Content Type 02">
    <p:spTree>
      <p:nvGrpSpPr>
        <p:cNvPr id="38" name="Shape 38"/>
        <p:cNvGrpSpPr/>
        <p:nvPr/>
      </p:nvGrpSpPr>
      <p:grpSpPr>
        <a:xfrm>
          <a:off x="0" y="0"/>
          <a:ext cx="0" cy="0"/>
          <a:chOff x="0" y="0"/>
          <a:chExt cx="0" cy="0"/>
        </a:xfrm>
      </p:grpSpPr>
      <p:pic>
        <p:nvPicPr>
          <p:cNvPr id="39" name="Google Shape;39;p13"/>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40" name="Google Shape;40;p13"/>
          <p:cNvSpPr txBox="1"/>
          <p:nvPr>
            <p:ph type="title"/>
          </p:nvPr>
        </p:nvSpPr>
        <p:spPr>
          <a:xfrm>
            <a:off x="565638" y="512763"/>
            <a:ext cx="10267586" cy="64769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5285F"/>
              </a:buClr>
              <a:buSzPts val="2800"/>
              <a:buFont typeface="Calibri"/>
              <a:buNone/>
              <a:defRPr sz="2800">
                <a:solidFill>
                  <a:srgbClr val="25285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3"/>
          <p:cNvSpPr/>
          <p:nvPr>
            <p:ph idx="2" type="pic"/>
          </p:nvPr>
        </p:nvSpPr>
        <p:spPr>
          <a:xfrm>
            <a:off x="803275" y="1520825"/>
            <a:ext cx="4833938" cy="3349625"/>
          </a:xfrm>
          <a:prstGeom prst="rect">
            <a:avLst/>
          </a:prstGeom>
          <a:noFill/>
          <a:ln>
            <a:noFill/>
          </a:ln>
        </p:spPr>
      </p:sp>
      <p:sp>
        <p:nvSpPr>
          <p:cNvPr id="42" name="Google Shape;42;p13"/>
          <p:cNvSpPr txBox="1"/>
          <p:nvPr>
            <p:ph idx="1" type="body"/>
          </p:nvPr>
        </p:nvSpPr>
        <p:spPr>
          <a:xfrm>
            <a:off x="797413" y="4959350"/>
            <a:ext cx="4833938" cy="12414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2pPr>
            <a:lvl3pPr indent="-228600" lvl="2" marL="13716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3pPr>
            <a:lvl4pPr indent="-228600" lvl="3" marL="18288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4pPr>
            <a:lvl5pPr indent="-228600" lvl="4" marL="22860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3"/>
          <p:cNvSpPr txBox="1"/>
          <p:nvPr>
            <p:ph idx="3" type="body"/>
          </p:nvPr>
        </p:nvSpPr>
        <p:spPr>
          <a:xfrm>
            <a:off x="5999406" y="4959350"/>
            <a:ext cx="4833938" cy="12414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600"/>
              <a:buNone/>
              <a:defRPr/>
            </a:lvl4pPr>
            <a:lvl5pPr indent="-228600" lvl="4" marL="2286000" algn="l">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
          <p:cNvSpPr/>
          <p:nvPr>
            <p:ph idx="4" type="pic"/>
          </p:nvPr>
        </p:nvSpPr>
        <p:spPr>
          <a:xfrm>
            <a:off x="5999406" y="1520825"/>
            <a:ext cx="4833938" cy="3349625"/>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 03">
  <p:cSld name="Content Type 03">
    <p:spTree>
      <p:nvGrpSpPr>
        <p:cNvPr id="45" name="Shape 45"/>
        <p:cNvGrpSpPr/>
        <p:nvPr/>
      </p:nvGrpSpPr>
      <p:grpSpPr>
        <a:xfrm>
          <a:off x="0" y="0"/>
          <a:ext cx="0" cy="0"/>
          <a:chOff x="0" y="0"/>
          <a:chExt cx="0" cy="0"/>
        </a:xfrm>
      </p:grpSpPr>
      <p:pic>
        <p:nvPicPr>
          <p:cNvPr id="46" name="Google Shape;46;p14"/>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47" name="Google Shape;47;p14"/>
          <p:cNvSpPr txBox="1"/>
          <p:nvPr>
            <p:ph idx="1" type="body"/>
          </p:nvPr>
        </p:nvSpPr>
        <p:spPr>
          <a:xfrm>
            <a:off x="570767" y="512763"/>
            <a:ext cx="10279063" cy="6477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25285F"/>
              </a:buClr>
              <a:buSzPts val="2800"/>
              <a:buNone/>
              <a:defRPr sz="2800">
                <a:solidFill>
                  <a:srgbClr val="25285F"/>
                </a:solidFill>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4"/>
          <p:cNvSpPr/>
          <p:nvPr>
            <p:ph idx="2" type="pic"/>
          </p:nvPr>
        </p:nvSpPr>
        <p:spPr>
          <a:xfrm>
            <a:off x="570767" y="2052696"/>
            <a:ext cx="2217130" cy="919104"/>
          </a:xfrm>
          <a:prstGeom prst="rect">
            <a:avLst/>
          </a:prstGeom>
          <a:noFill/>
          <a:ln>
            <a:noFill/>
          </a:ln>
        </p:spPr>
      </p:sp>
      <p:sp>
        <p:nvSpPr>
          <p:cNvPr id="49" name="Google Shape;49;p14"/>
          <p:cNvSpPr txBox="1"/>
          <p:nvPr>
            <p:ph idx="3" type="body"/>
          </p:nvPr>
        </p:nvSpPr>
        <p:spPr>
          <a:xfrm>
            <a:off x="570767" y="3318789"/>
            <a:ext cx="2217130" cy="2124092"/>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14"/>
          <p:cNvSpPr txBox="1"/>
          <p:nvPr>
            <p:ph idx="4" type="body"/>
          </p:nvPr>
        </p:nvSpPr>
        <p:spPr>
          <a:xfrm>
            <a:off x="3491033" y="3319462"/>
            <a:ext cx="2216150" cy="212297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600"/>
              <a:buNone/>
              <a:defRPr/>
            </a:lvl4pPr>
            <a:lvl5pPr indent="-228600" lvl="4" marL="2286000" algn="l">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4"/>
          <p:cNvSpPr/>
          <p:nvPr>
            <p:ph idx="5" type="pic"/>
          </p:nvPr>
        </p:nvSpPr>
        <p:spPr>
          <a:xfrm>
            <a:off x="3491033" y="2052638"/>
            <a:ext cx="2216150" cy="919162"/>
          </a:xfrm>
          <a:prstGeom prst="rect">
            <a:avLst/>
          </a:prstGeom>
          <a:noFill/>
          <a:ln>
            <a:noFill/>
          </a:ln>
        </p:spPr>
      </p:sp>
      <p:sp>
        <p:nvSpPr>
          <p:cNvPr id="52" name="Google Shape;52;p14"/>
          <p:cNvSpPr txBox="1"/>
          <p:nvPr>
            <p:ph idx="6" type="body"/>
          </p:nvPr>
        </p:nvSpPr>
        <p:spPr>
          <a:xfrm>
            <a:off x="6422779" y="3318788"/>
            <a:ext cx="2216150" cy="212297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600"/>
              <a:buNone/>
              <a:defRPr/>
            </a:lvl4pPr>
            <a:lvl5pPr indent="-228600" lvl="4" marL="2286000" algn="l">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4"/>
          <p:cNvSpPr/>
          <p:nvPr>
            <p:ph idx="7" type="pic"/>
          </p:nvPr>
        </p:nvSpPr>
        <p:spPr>
          <a:xfrm>
            <a:off x="6416549" y="2052638"/>
            <a:ext cx="2216150" cy="919162"/>
          </a:xfrm>
          <a:prstGeom prst="rect">
            <a:avLst/>
          </a:prstGeom>
          <a:noFill/>
          <a:ln>
            <a:noFill/>
          </a:ln>
        </p:spPr>
      </p:sp>
      <p:sp>
        <p:nvSpPr>
          <p:cNvPr id="54" name="Google Shape;54;p14"/>
          <p:cNvSpPr txBox="1"/>
          <p:nvPr>
            <p:ph idx="8" type="body"/>
          </p:nvPr>
        </p:nvSpPr>
        <p:spPr>
          <a:xfrm>
            <a:off x="9355377" y="3319463"/>
            <a:ext cx="2216150" cy="212248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4"/>
          <p:cNvSpPr/>
          <p:nvPr>
            <p:ph idx="9" type="pic"/>
          </p:nvPr>
        </p:nvSpPr>
        <p:spPr>
          <a:xfrm>
            <a:off x="9342065" y="2052638"/>
            <a:ext cx="2216150" cy="9191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 04">
  <p:cSld name="Content Type 04">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58" name="Google Shape;58;p15"/>
          <p:cNvSpPr txBox="1"/>
          <p:nvPr>
            <p:ph type="title"/>
          </p:nvPr>
        </p:nvSpPr>
        <p:spPr>
          <a:xfrm>
            <a:off x="565638" y="512763"/>
            <a:ext cx="10267586" cy="647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5285F"/>
              </a:buClr>
              <a:buSzPts val="2800"/>
              <a:buFont typeface="Calibri"/>
              <a:buNone/>
              <a:defRPr sz="2800">
                <a:solidFill>
                  <a:srgbClr val="25285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5"/>
          <p:cNvSpPr txBox="1"/>
          <p:nvPr>
            <p:ph idx="1" type="body"/>
          </p:nvPr>
        </p:nvSpPr>
        <p:spPr>
          <a:xfrm>
            <a:off x="803275" y="4959350"/>
            <a:ext cx="4833938" cy="12414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2pPr>
            <a:lvl3pPr indent="-228600" lvl="2" marL="13716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3pPr>
            <a:lvl4pPr indent="-228600" lvl="3" marL="18288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4pPr>
            <a:lvl5pPr indent="-228600" lvl="4" marL="2286000" algn="l">
              <a:lnSpc>
                <a:spcPct val="90000"/>
              </a:lnSpc>
              <a:spcBef>
                <a:spcPts val="500"/>
              </a:spcBef>
              <a:spcAft>
                <a:spcPts val="0"/>
              </a:spcAft>
              <a:buClr>
                <a:schemeClr val="dk1"/>
              </a:buClr>
              <a:buSzPts val="1400"/>
              <a:buNone/>
              <a:defRPr sz="1400">
                <a:latin typeface="Noto Sans JP"/>
                <a:ea typeface="Noto Sans JP"/>
                <a:cs typeface="Noto Sans JP"/>
                <a:sym typeface="Noto Sans JP"/>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5"/>
          <p:cNvSpPr txBox="1"/>
          <p:nvPr>
            <p:ph idx="2" type="body"/>
          </p:nvPr>
        </p:nvSpPr>
        <p:spPr>
          <a:xfrm>
            <a:off x="5999406" y="4959350"/>
            <a:ext cx="4833938" cy="12414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600"/>
              <a:buNone/>
              <a:defRPr/>
            </a:lvl4pPr>
            <a:lvl5pPr indent="-228600" lvl="4" marL="2286000" algn="l">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5"/>
          <p:cNvSpPr/>
          <p:nvPr>
            <p:ph idx="3" type="chart"/>
          </p:nvPr>
        </p:nvSpPr>
        <p:spPr>
          <a:xfrm>
            <a:off x="803275" y="1520825"/>
            <a:ext cx="4833938" cy="3270006"/>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rgbClr val="7F7F7F"/>
              </a:buClr>
              <a:buSzPts val="2000"/>
              <a:buFont typeface="Arial"/>
              <a:buNone/>
              <a:defRPr b="0" i="0" sz="2000" u="none" cap="none" strike="noStrike">
                <a:solidFill>
                  <a:srgbClr val="7F7F7F"/>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2" name="Google Shape;62;p15"/>
          <p:cNvSpPr/>
          <p:nvPr>
            <p:ph idx="4" type="chart"/>
          </p:nvPr>
        </p:nvSpPr>
        <p:spPr>
          <a:xfrm>
            <a:off x="5999406" y="1520825"/>
            <a:ext cx="4833938" cy="3270006"/>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rgbClr val="7F7F7F"/>
              </a:buClr>
              <a:buSzPts val="2000"/>
              <a:buFont typeface="Arial"/>
              <a:buNone/>
              <a:defRPr b="0" i="0" sz="2000" u="none" cap="none" strike="noStrike">
                <a:solidFill>
                  <a:srgbClr val="7F7F7F"/>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63" name="Shape 63"/>
        <p:cNvGrpSpPr/>
        <p:nvPr/>
      </p:nvGrpSpPr>
      <p:grpSpPr>
        <a:xfrm>
          <a:off x="0" y="0"/>
          <a:ext cx="0" cy="0"/>
          <a:chOff x="0" y="0"/>
          <a:chExt cx="0" cy="0"/>
        </a:xfrm>
      </p:grpSpPr>
      <p:pic>
        <p:nvPicPr>
          <p:cNvPr id="64" name="Google Shape;64;p16"/>
          <p:cNvPicPr preferRelativeResize="0"/>
          <p:nvPr/>
        </p:nvPicPr>
        <p:blipFill rotWithShape="1">
          <a:blip r:embed="rId2">
            <a:alphaModFix/>
          </a:blip>
          <a:srcRect b="0" l="0" r="0" t="0"/>
          <a:stretch/>
        </p:blipFill>
        <p:spPr>
          <a:xfrm>
            <a:off x="0" y="0"/>
            <a:ext cx="12192000" cy="6857999"/>
          </a:xfrm>
          <a:prstGeom prst="rect">
            <a:avLst/>
          </a:prstGeom>
          <a:noFill/>
          <a:ln>
            <a:noFill/>
          </a:ln>
        </p:spPr>
      </p:pic>
      <p:sp>
        <p:nvSpPr>
          <p:cNvPr id="65" name="Google Shape;65;p16"/>
          <p:cNvSpPr txBox="1"/>
          <p:nvPr>
            <p:ph type="title"/>
          </p:nvPr>
        </p:nvSpPr>
        <p:spPr>
          <a:xfrm>
            <a:off x="565639" y="2875085"/>
            <a:ext cx="7180386" cy="88802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5000"/>
              <a:buFont typeface="Calibri"/>
              <a:buNone/>
              <a:defRPr sz="50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8"/>
          <p:cNvPicPr preferRelativeResize="0"/>
          <p:nvPr/>
        </p:nvPicPr>
        <p:blipFill rotWithShape="1">
          <a:blip r:embed="rId1">
            <a:alphaModFix/>
          </a:blip>
          <a:srcRect b="0" l="0" r="0" t="0"/>
          <a:stretch/>
        </p:blipFill>
        <p:spPr>
          <a:xfrm>
            <a:off x="0" y="0"/>
            <a:ext cx="12192000" cy="6857999"/>
          </a:xfrm>
          <a:prstGeom prst="rect">
            <a:avLst/>
          </a:prstGeom>
          <a:noFill/>
          <a:ln>
            <a:noFill/>
          </a:ln>
        </p:spPr>
      </p:pic>
      <p:sp>
        <p:nvSpPr>
          <p:cNvPr id="11" name="Google Shape;11;p8"/>
          <p:cNvSpPr txBox="1"/>
          <p:nvPr>
            <p:ph idx="1" type="body"/>
          </p:nvPr>
        </p:nvSpPr>
        <p:spPr>
          <a:xfrm>
            <a:off x="803275" y="1528354"/>
            <a:ext cx="10585450" cy="4672421"/>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8"/>
          <p:cNvSpPr txBox="1"/>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25285F"/>
              </a:buClr>
              <a:buSzPts val="2400"/>
              <a:buFont typeface="Arial"/>
              <a:buNone/>
            </a:pPr>
            <a:r>
              <a:t/>
            </a:r>
            <a:endParaRPr b="0" i="0" sz="2400" u="none" cap="none" strike="noStrike">
              <a:solidFill>
                <a:srgbClr val="25285F"/>
              </a:solidFill>
              <a:latin typeface="Calibri"/>
              <a:ea typeface="Calibri"/>
              <a:cs typeface="Calibri"/>
              <a:sym typeface="Calibri"/>
            </a:endParaRPr>
          </a:p>
        </p:txBody>
      </p:sp>
      <p:sp>
        <p:nvSpPr>
          <p:cNvPr id="16" name="Google Shape;16;p8"/>
          <p:cNvSpPr txBox="1"/>
          <p:nvPr>
            <p:ph type="title"/>
          </p:nvPr>
        </p:nvSpPr>
        <p:spPr>
          <a:xfrm>
            <a:off x="550863" y="512763"/>
            <a:ext cx="10298967" cy="6477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25285F"/>
              </a:buClr>
              <a:buSzPts val="2800"/>
              <a:buFont typeface="Calibri"/>
              <a:buNone/>
              <a:defRPr b="0" i="0" sz="2800" u="none" cap="none" strike="noStrike">
                <a:solidFill>
                  <a:srgbClr val="25285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esignthinking.ideo.com/resources/tim-browns-ted-talk" TargetMode="External"/><Relationship Id="rId4" Type="http://schemas.openxmlformats.org/officeDocument/2006/relationships/hyperlink" Target="https://www.ideo.com/works/improving-quality-of-life-for-young-adults-with-schizophreni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
          <p:cNvSpPr txBox="1"/>
          <p:nvPr>
            <p:ph type="ctrTitle"/>
          </p:nvPr>
        </p:nvSpPr>
        <p:spPr>
          <a:xfrm>
            <a:off x="4028930" y="4137121"/>
            <a:ext cx="8011565" cy="132343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br>
              <a:rPr lang="en-US"/>
            </a:br>
            <a:r>
              <a:rPr lang="en-US"/>
              <a:t>PRODUCT MANAGEMENT</a:t>
            </a:r>
            <a:br>
              <a:rPr lang="en-US"/>
            </a:br>
            <a:r>
              <a:rPr lang="en-US"/>
              <a:t>WITH GENERATIVE &amp; AGENTIC AI</a:t>
            </a:r>
            <a:br>
              <a:rPr lang="en-US"/>
            </a:br>
            <a:br>
              <a:rPr lang="en-US">
                <a:solidFill>
                  <a:schemeClr val="lt1"/>
                </a:solidFill>
                <a:latin typeface="Arial"/>
                <a:ea typeface="Arial"/>
                <a:cs typeface="Arial"/>
                <a:sym typeface="Arial"/>
              </a:rPr>
            </a:br>
            <a:r>
              <a:rPr lang="en-US">
                <a:solidFill>
                  <a:schemeClr val="lt1"/>
                </a:solidFill>
                <a:latin typeface="Arial"/>
                <a:ea typeface="Arial"/>
                <a:cs typeface="Arial"/>
                <a:sym typeface="Arial"/>
              </a:rPr>
              <a:t>PRE-READ FOR SESSION 1</a:t>
            </a:r>
            <a:br>
              <a:rPr lang="en-US">
                <a:solidFill>
                  <a:schemeClr val="lt1"/>
                </a:solidFill>
                <a:latin typeface="Arial"/>
                <a:ea typeface="Arial"/>
                <a:cs typeface="Arial"/>
                <a:sym typeface="Arial"/>
              </a:rPr>
            </a:br>
            <a:r>
              <a:rPr lang="en-US" sz="2800">
                <a:solidFill>
                  <a:schemeClr val="lt1"/>
                </a:solidFill>
                <a:latin typeface="Arial"/>
                <a:ea typeface="Arial"/>
                <a:cs typeface="Arial"/>
                <a:sym typeface="Arial"/>
              </a:rPr>
              <a:t>Design Thinking, User Personas</a:t>
            </a:r>
            <a:endParaRPr>
              <a:latin typeface="Arial"/>
              <a:ea typeface="Arial"/>
              <a:cs typeface="Arial"/>
              <a:sym typeface="Arial"/>
            </a:endParaRPr>
          </a:p>
        </p:txBody>
      </p:sp>
      <p:pic>
        <p:nvPicPr>
          <p:cNvPr id="71" name="Google Shape;71;p1"/>
          <p:cNvPicPr preferRelativeResize="0"/>
          <p:nvPr/>
        </p:nvPicPr>
        <p:blipFill rotWithShape="1">
          <a:blip r:embed="rId3">
            <a:alphaModFix/>
          </a:blip>
          <a:srcRect b="0" l="0" r="0" t="0"/>
          <a:stretch/>
        </p:blipFill>
        <p:spPr>
          <a:xfrm>
            <a:off x="4394200" y="1704879"/>
            <a:ext cx="2260600" cy="101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2"/>
          <p:cNvSpPr txBox="1"/>
          <p:nvPr>
            <p:ph type="title"/>
          </p:nvPr>
        </p:nvSpPr>
        <p:spPr>
          <a:xfrm>
            <a:off x="519487" y="395104"/>
            <a:ext cx="8373501" cy="64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5285F"/>
              </a:buClr>
              <a:buSzPts val="3200"/>
              <a:buFont typeface="Calibri"/>
              <a:buNone/>
            </a:pPr>
            <a:r>
              <a:rPr lang="en-US" sz="3200">
                <a:latin typeface="Calibri"/>
                <a:ea typeface="Calibri"/>
                <a:cs typeface="Calibri"/>
                <a:sym typeface="Calibri"/>
              </a:rPr>
              <a:t>Understand design thinking</a:t>
            </a:r>
            <a:endParaRPr/>
          </a:p>
        </p:txBody>
      </p:sp>
      <p:sp>
        <p:nvSpPr>
          <p:cNvPr id="77" name="Google Shape;77;p2"/>
          <p:cNvSpPr txBox="1"/>
          <p:nvPr/>
        </p:nvSpPr>
        <p:spPr>
          <a:xfrm>
            <a:off x="646176" y="2959340"/>
            <a:ext cx="10972800" cy="1360372"/>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24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https://designthinking.ideo.com/resources/tim-browns-ted-talk</a:t>
            </a:r>
            <a:endParaRPr b="0" i="0" sz="24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78" name="Google Shape;78;p2"/>
          <p:cNvSpPr txBox="1"/>
          <p:nvPr/>
        </p:nvSpPr>
        <p:spPr>
          <a:xfrm>
            <a:off x="646176" y="4239691"/>
            <a:ext cx="1073810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https://www.ideo.com/works/improving-quality-of-life-for-young-adults-with-schizophrenia</a:t>
            </a:r>
            <a:endParaRPr sz="2400">
              <a:solidFill>
                <a:schemeClr val="dk1"/>
              </a:solidFill>
              <a:latin typeface="Calibri"/>
              <a:ea typeface="Calibri"/>
              <a:cs typeface="Calibri"/>
              <a:sym typeface="Calibri"/>
            </a:endParaRPr>
          </a:p>
        </p:txBody>
      </p:sp>
      <p:sp>
        <p:nvSpPr>
          <p:cNvPr id="79" name="Google Shape;79;p2"/>
          <p:cNvSpPr txBox="1"/>
          <p:nvPr/>
        </p:nvSpPr>
        <p:spPr>
          <a:xfrm>
            <a:off x="510884" y="1257454"/>
            <a:ext cx="10891684" cy="516672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0" lang="en-US" sz="2400" u="none">
                <a:solidFill>
                  <a:schemeClr val="dk1"/>
                </a:solidFill>
                <a:latin typeface="Calibri"/>
                <a:ea typeface="Calibri"/>
                <a:cs typeface="Calibri"/>
                <a:sym typeface="Calibri"/>
              </a:rPr>
              <a:t>Review the links below to develop an understanding on what design thinking is. One of them is an introduction while the other is a practical example of how design thinking was used in design and development on a healthcare product</a:t>
            </a:r>
            <a:endParaRPr b="0" sz="2800" u="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ph type="title"/>
          </p:nvPr>
        </p:nvSpPr>
        <p:spPr>
          <a:xfrm>
            <a:off x="519487" y="395104"/>
            <a:ext cx="8373501" cy="64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5285F"/>
              </a:buClr>
              <a:buSzPts val="3200"/>
              <a:buFont typeface="Calibri"/>
              <a:buNone/>
            </a:pPr>
            <a:r>
              <a:rPr lang="en-US" sz="3200">
                <a:latin typeface="Calibri"/>
                <a:ea typeface="Calibri"/>
                <a:cs typeface="Calibri"/>
                <a:sym typeface="Calibri"/>
              </a:rPr>
              <a:t>User Personas</a:t>
            </a:r>
            <a:endParaRPr/>
          </a:p>
        </p:txBody>
      </p:sp>
      <p:sp>
        <p:nvSpPr>
          <p:cNvPr id="86" name="Google Shape;86;p3"/>
          <p:cNvSpPr txBox="1"/>
          <p:nvPr/>
        </p:nvSpPr>
        <p:spPr>
          <a:xfrm>
            <a:off x="510884" y="1257454"/>
            <a:ext cx="10891684" cy="516672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Keep this template handy and refer to this during the class. We will be talking about User Personas and how they can be mapped and this can be handy to understand and create new personas</a:t>
            </a:r>
            <a:endParaRPr sz="2800">
              <a:solidFill>
                <a:schemeClr val="dk1"/>
              </a:solidFill>
              <a:latin typeface="Calibri"/>
              <a:ea typeface="Calibri"/>
              <a:cs typeface="Calibri"/>
              <a:sym typeface="Calibri"/>
            </a:endParaRPr>
          </a:p>
        </p:txBody>
      </p:sp>
      <p:sp>
        <p:nvSpPr>
          <p:cNvPr id="87" name="Google Shape;87;p3"/>
          <p:cNvSpPr txBox="1"/>
          <p:nvPr/>
        </p:nvSpPr>
        <p:spPr>
          <a:xfrm>
            <a:off x="510884" y="2738367"/>
            <a:ext cx="10972800" cy="2204899"/>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lang="en-US" sz="2000">
                <a:solidFill>
                  <a:schemeClr val="dk1"/>
                </a:solidFill>
                <a:latin typeface="Calibri"/>
                <a:ea typeface="Calibri"/>
                <a:cs typeface="Calibri"/>
                <a:sym typeface="Calibri"/>
              </a:rPr>
              <a:t>A user persona is a </a:t>
            </a:r>
            <a:r>
              <a:rPr b="1" lang="en-US" sz="2400">
                <a:solidFill>
                  <a:srgbClr val="ED7D31"/>
                </a:solidFill>
                <a:latin typeface="Calibri"/>
                <a:ea typeface="Calibri"/>
                <a:cs typeface="Calibri"/>
                <a:sym typeface="Calibri"/>
              </a:rPr>
              <a:t>fictional but evidence-based representation </a:t>
            </a:r>
            <a:r>
              <a:rPr lang="en-US" sz="2000">
                <a:solidFill>
                  <a:schemeClr val="dk1"/>
                </a:solidFill>
                <a:latin typeface="Calibri"/>
                <a:ea typeface="Calibri"/>
                <a:cs typeface="Calibri"/>
                <a:sym typeface="Calibri"/>
              </a:rPr>
              <a:t>of a key user segment, created by synthesising qualitative and/or quantitative research into a relatable profile that </a:t>
            </a:r>
            <a:r>
              <a:rPr b="1" lang="en-US" sz="2400">
                <a:solidFill>
                  <a:srgbClr val="ED7D31"/>
                </a:solidFill>
                <a:latin typeface="Calibri"/>
                <a:ea typeface="Calibri"/>
                <a:cs typeface="Calibri"/>
                <a:sym typeface="Calibri"/>
              </a:rPr>
              <a:t>captures the user’s goals, behaviours, motivations, and pain points.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txBox="1"/>
          <p:nvPr>
            <p:ph type="title"/>
          </p:nvPr>
        </p:nvSpPr>
        <p:spPr>
          <a:xfrm>
            <a:off x="519487" y="395104"/>
            <a:ext cx="8373501" cy="64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5285F"/>
              </a:buClr>
              <a:buSzPts val="3200"/>
              <a:buFont typeface="Calibri"/>
              <a:buNone/>
            </a:pPr>
            <a:r>
              <a:rPr lang="en-US" sz="3200">
                <a:latin typeface="Calibri"/>
                <a:ea typeface="Calibri"/>
                <a:cs typeface="Calibri"/>
                <a:sym typeface="Calibri"/>
              </a:rPr>
              <a:t>User Persona – Sales Rep</a:t>
            </a:r>
            <a:endParaRPr b="1" sz="3200">
              <a:latin typeface="Calibri"/>
              <a:ea typeface="Calibri"/>
              <a:cs typeface="Calibri"/>
              <a:sym typeface="Calibri"/>
            </a:endParaRPr>
          </a:p>
        </p:txBody>
      </p:sp>
      <p:sp>
        <p:nvSpPr>
          <p:cNvPr id="94" name="Google Shape;94;p4"/>
          <p:cNvSpPr/>
          <p:nvPr/>
        </p:nvSpPr>
        <p:spPr>
          <a:xfrm>
            <a:off x="618098" y="1084830"/>
            <a:ext cx="11278067" cy="5575945"/>
          </a:xfrm>
          <a:custGeom>
            <a:rect b="b" l="l" r="r" t="t"/>
            <a:pathLst>
              <a:path extrusionOk="0" h="2466200" w="4585054">
                <a:moveTo>
                  <a:pt x="0" y="0"/>
                </a:moveTo>
                <a:lnTo>
                  <a:pt x="4585054" y="0"/>
                </a:lnTo>
                <a:lnTo>
                  <a:pt x="4585054" y="2466200"/>
                </a:lnTo>
                <a:lnTo>
                  <a:pt x="0" y="246620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4"/>
          <p:cNvSpPr/>
          <p:nvPr/>
        </p:nvSpPr>
        <p:spPr>
          <a:xfrm>
            <a:off x="810198" y="1232370"/>
            <a:ext cx="3887387" cy="1986034"/>
          </a:xfrm>
          <a:custGeom>
            <a:rect b="b" l="l" r="r" t="t"/>
            <a:pathLst>
              <a:path extrusionOk="0" h="686384" w="1828383">
                <a:moveTo>
                  <a:pt x="0" y="0"/>
                </a:moveTo>
                <a:lnTo>
                  <a:pt x="1828383" y="0"/>
                </a:lnTo>
                <a:lnTo>
                  <a:pt x="1828383" y="686384"/>
                </a:lnTo>
                <a:lnTo>
                  <a:pt x="0" y="686384"/>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6" name="Google Shape;96;p4"/>
          <p:cNvSpPr txBox="1"/>
          <p:nvPr/>
        </p:nvSpPr>
        <p:spPr>
          <a:xfrm>
            <a:off x="830917" y="1242135"/>
            <a:ext cx="4270002" cy="1671865"/>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97" name="Google Shape;97;p4"/>
          <p:cNvGrpSpPr/>
          <p:nvPr/>
        </p:nvGrpSpPr>
        <p:grpSpPr>
          <a:xfrm>
            <a:off x="4881744" y="1245180"/>
            <a:ext cx="3701770" cy="2017723"/>
            <a:chOff x="0" y="-28575"/>
            <a:chExt cx="1004829" cy="819085"/>
          </a:xfrm>
        </p:grpSpPr>
        <p:sp>
          <p:nvSpPr>
            <p:cNvPr id="98" name="Google Shape;98;p4"/>
            <p:cNvSpPr/>
            <p:nvPr/>
          </p:nvSpPr>
          <p:spPr>
            <a:xfrm>
              <a:off x="0" y="0"/>
              <a:ext cx="1004829" cy="790510"/>
            </a:xfrm>
            <a:custGeom>
              <a:rect b="b" l="l" r="r" t="t"/>
              <a:pathLst>
                <a:path extrusionOk="0" h="790510" w="1004829">
                  <a:moveTo>
                    <a:pt x="0" y="0"/>
                  </a:moveTo>
                  <a:lnTo>
                    <a:pt x="1004829" y="0"/>
                  </a:lnTo>
                  <a:lnTo>
                    <a:pt x="1004829" y="790510"/>
                  </a:lnTo>
                  <a:lnTo>
                    <a:pt x="0" y="79051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9" name="Google Shape;99;p4"/>
            <p:cNvSpPr txBox="1"/>
            <p:nvPr/>
          </p:nvSpPr>
          <p:spPr>
            <a:xfrm>
              <a:off x="0" y="-28575"/>
              <a:ext cx="1004829" cy="819085"/>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chemeClr val="dk1"/>
                </a:solidFill>
                <a:latin typeface="Calibri"/>
                <a:ea typeface="Calibri"/>
                <a:cs typeface="Calibri"/>
                <a:sym typeface="Calibri"/>
              </a:endParaRPr>
            </a:p>
          </p:txBody>
        </p:sp>
      </p:grpSp>
      <p:sp>
        <p:nvSpPr>
          <p:cNvPr id="100" name="Google Shape;100;p4"/>
          <p:cNvSpPr/>
          <p:nvPr/>
        </p:nvSpPr>
        <p:spPr>
          <a:xfrm>
            <a:off x="830309" y="3356786"/>
            <a:ext cx="3830258" cy="1510074"/>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4"/>
          <p:cNvSpPr txBox="1"/>
          <p:nvPr/>
        </p:nvSpPr>
        <p:spPr>
          <a:xfrm>
            <a:off x="866774" y="2890591"/>
            <a:ext cx="4207250" cy="1771336"/>
          </a:xfrm>
          <a:prstGeom prst="rect">
            <a:avLst/>
          </a:prstGeom>
          <a:noFill/>
          <a:ln>
            <a:noFill/>
          </a:ln>
        </p:spPr>
        <p:txBody>
          <a:bodyPr anchorCtr="0" anchor="t" bIns="254000" lIns="254000" spcFirstLastPara="1" rIns="254000" wrap="square" tIns="254000">
            <a:noAutofit/>
          </a:bodyPr>
          <a:lstStyle/>
          <a:p>
            <a:pPr indent="-96521" lvl="1" marL="345441" marR="0" rtl="0" algn="l">
              <a:lnSpc>
                <a:spcPct val="189333"/>
              </a:lnSpc>
              <a:spcBef>
                <a:spcPts val="0"/>
              </a:spcBef>
              <a:spcAft>
                <a:spcPts val="0"/>
              </a:spcAft>
              <a:buClr>
                <a:schemeClr val="dk1"/>
              </a:buClr>
              <a:buSzPts val="1200"/>
              <a:buFont typeface="Arial"/>
              <a:buNone/>
            </a:pPr>
            <a:r>
              <a:t/>
            </a:r>
            <a:endParaRPr b="0" i="0" sz="1200" u="none" cap="none" strike="noStrike">
              <a:solidFill>
                <a:srgbClr val="191919"/>
              </a:solidFill>
              <a:latin typeface="Calibri"/>
              <a:ea typeface="Calibri"/>
              <a:cs typeface="Calibri"/>
              <a:sym typeface="Calibri"/>
            </a:endParaRPr>
          </a:p>
        </p:txBody>
      </p:sp>
      <p:sp>
        <p:nvSpPr>
          <p:cNvPr id="102" name="Google Shape;102;p4"/>
          <p:cNvSpPr/>
          <p:nvPr/>
        </p:nvSpPr>
        <p:spPr>
          <a:xfrm>
            <a:off x="4893497" y="3361637"/>
            <a:ext cx="3701770" cy="1505223"/>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4"/>
          <p:cNvSpPr txBox="1"/>
          <p:nvPr/>
        </p:nvSpPr>
        <p:spPr>
          <a:xfrm>
            <a:off x="5279455" y="2946631"/>
            <a:ext cx="3324778" cy="1719930"/>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104" name="Google Shape;104;p4"/>
          <p:cNvGrpSpPr/>
          <p:nvPr/>
        </p:nvGrpSpPr>
        <p:grpSpPr>
          <a:xfrm>
            <a:off x="874982" y="5056426"/>
            <a:ext cx="7729251" cy="1477696"/>
            <a:chOff x="0" y="-28575"/>
            <a:chExt cx="1828383" cy="677773"/>
          </a:xfrm>
        </p:grpSpPr>
        <p:sp>
          <p:nvSpPr>
            <p:cNvPr id="105" name="Google Shape;105;p4"/>
            <p:cNvSpPr/>
            <p:nvPr/>
          </p:nvSpPr>
          <p:spPr>
            <a:xfrm>
              <a:off x="0" y="0"/>
              <a:ext cx="1828383" cy="649198"/>
            </a:xfrm>
            <a:custGeom>
              <a:rect b="b" l="l" r="r" t="t"/>
              <a:pathLst>
                <a:path extrusionOk="0" h="649198" w="1828383">
                  <a:moveTo>
                    <a:pt x="0" y="0"/>
                  </a:moveTo>
                  <a:lnTo>
                    <a:pt x="1828383" y="0"/>
                  </a:lnTo>
                  <a:lnTo>
                    <a:pt x="1828383" y="649198"/>
                  </a:lnTo>
                  <a:lnTo>
                    <a:pt x="0" y="649198"/>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6" name="Google Shape;106;p4"/>
            <p:cNvSpPr txBox="1"/>
            <p:nvPr/>
          </p:nvSpPr>
          <p:spPr>
            <a:xfrm>
              <a:off x="0" y="-28575"/>
              <a:ext cx="1828383" cy="677773"/>
            </a:xfrm>
            <a:prstGeom prst="rect">
              <a:avLst/>
            </a:prstGeom>
            <a:noFill/>
            <a:ln>
              <a:noFill/>
            </a:ln>
          </p:spPr>
          <p:txBody>
            <a:bodyPr anchorCtr="0" anchor="ctr" bIns="254000" lIns="254000" spcFirstLastPara="1" rIns="254000" wrap="square" tIns="254000">
              <a:noAutofit/>
            </a:bodyPr>
            <a:lstStyle/>
            <a:p>
              <a:pPr indent="0" lvl="0" marL="0" marR="0" rtl="0" algn="l">
                <a:lnSpc>
                  <a:spcPct val="162285"/>
                </a:lnSpc>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07" name="Google Shape;107;p4"/>
          <p:cNvSpPr txBox="1"/>
          <p:nvPr/>
        </p:nvSpPr>
        <p:spPr>
          <a:xfrm>
            <a:off x="1085537" y="5141587"/>
            <a:ext cx="5984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Motivations:</a:t>
            </a:r>
            <a:endParaRPr b="1">
              <a:latin typeface="Calibri"/>
              <a:ea typeface="Calibri"/>
              <a:cs typeface="Calibri"/>
              <a:sym typeface="Calibri"/>
            </a:endParaRPr>
          </a:p>
        </p:txBody>
      </p:sp>
      <p:sp>
        <p:nvSpPr>
          <p:cNvPr id="108" name="Google Shape;108;p4"/>
          <p:cNvSpPr txBox="1"/>
          <p:nvPr/>
        </p:nvSpPr>
        <p:spPr>
          <a:xfrm>
            <a:off x="971841" y="5840344"/>
            <a:ext cx="2134500" cy="215400"/>
          </a:xfrm>
          <a:prstGeom prst="rect">
            <a:avLst/>
          </a:prstGeom>
          <a:noFill/>
          <a:ln>
            <a:noFill/>
          </a:ln>
        </p:spPr>
        <p:txBody>
          <a:bodyPr anchorCtr="0" anchor="t" bIns="0" lIns="0" spcFirstLastPara="1" rIns="0" wrap="square" tIns="0">
            <a:spAutoFit/>
          </a:bodyPr>
          <a:lstStyle/>
          <a:p>
            <a:pPr indent="-185421" lvl="1" marL="345443" marR="0" rtl="0" algn="l">
              <a:lnSpc>
                <a:spcPct val="100000"/>
              </a:lnSpc>
              <a:spcBef>
                <a:spcPts val="0"/>
              </a:spcBef>
              <a:spcAft>
                <a:spcPts val="0"/>
              </a:spcAft>
              <a:buClr>
                <a:srgbClr val="191919"/>
              </a:buClr>
              <a:buSzPts val="1400"/>
              <a:buFont typeface="Calibri"/>
              <a:buChar char="•"/>
            </a:pPr>
            <a:r>
              <a:rPr i="0" lang="en-US" u="none" cap="none" strike="noStrike">
                <a:solidFill>
                  <a:srgbClr val="191919"/>
                </a:solidFill>
                <a:latin typeface="Calibri"/>
                <a:ea typeface="Calibri"/>
                <a:cs typeface="Calibri"/>
                <a:sym typeface="Calibri"/>
              </a:rPr>
              <a:t>Competitive</a:t>
            </a:r>
            <a:endParaRPr>
              <a:latin typeface="Calibri"/>
              <a:ea typeface="Calibri"/>
              <a:cs typeface="Calibri"/>
              <a:sym typeface="Calibri"/>
            </a:endParaRPr>
          </a:p>
        </p:txBody>
      </p:sp>
      <p:sp>
        <p:nvSpPr>
          <p:cNvPr id="109" name="Google Shape;109;p4"/>
          <p:cNvSpPr txBox="1"/>
          <p:nvPr/>
        </p:nvSpPr>
        <p:spPr>
          <a:xfrm>
            <a:off x="971840" y="5457531"/>
            <a:ext cx="2134500" cy="215400"/>
          </a:xfrm>
          <a:prstGeom prst="rect">
            <a:avLst/>
          </a:prstGeom>
          <a:noFill/>
          <a:ln>
            <a:noFill/>
          </a:ln>
        </p:spPr>
        <p:txBody>
          <a:bodyPr anchorCtr="0" anchor="t" bIns="0" lIns="0" spcFirstLastPara="1" rIns="0" wrap="square" tIns="0">
            <a:spAutoFit/>
          </a:bodyPr>
          <a:lstStyle/>
          <a:p>
            <a:pPr indent="-185421" lvl="1" marL="345443" marR="0" rtl="0" algn="l">
              <a:lnSpc>
                <a:spcPct val="100000"/>
              </a:lnSpc>
              <a:spcBef>
                <a:spcPts val="0"/>
              </a:spcBef>
              <a:spcAft>
                <a:spcPts val="0"/>
              </a:spcAft>
              <a:buClr>
                <a:srgbClr val="191919"/>
              </a:buClr>
              <a:buSzPts val="1400"/>
              <a:buFont typeface="Calibri"/>
              <a:buChar char="•"/>
            </a:pPr>
            <a:r>
              <a:rPr i="0" lang="en-US" u="none" cap="none" strike="noStrike">
                <a:solidFill>
                  <a:srgbClr val="191919"/>
                </a:solidFill>
                <a:latin typeface="Calibri"/>
                <a:ea typeface="Calibri"/>
                <a:cs typeface="Calibri"/>
                <a:sym typeface="Calibri"/>
              </a:rPr>
              <a:t>Target Driven</a:t>
            </a:r>
            <a:endParaRPr>
              <a:latin typeface="Calibri"/>
              <a:ea typeface="Calibri"/>
              <a:cs typeface="Calibri"/>
              <a:sym typeface="Calibri"/>
            </a:endParaRPr>
          </a:p>
        </p:txBody>
      </p:sp>
      <p:sp>
        <p:nvSpPr>
          <p:cNvPr id="110" name="Google Shape;110;p4"/>
          <p:cNvSpPr txBox="1"/>
          <p:nvPr/>
        </p:nvSpPr>
        <p:spPr>
          <a:xfrm>
            <a:off x="971841" y="6215108"/>
            <a:ext cx="2134500" cy="215400"/>
          </a:xfrm>
          <a:prstGeom prst="rect">
            <a:avLst/>
          </a:prstGeom>
          <a:noFill/>
          <a:ln>
            <a:noFill/>
          </a:ln>
        </p:spPr>
        <p:txBody>
          <a:bodyPr anchorCtr="0" anchor="t" bIns="0" lIns="0" spcFirstLastPara="1" rIns="0" wrap="square" tIns="0">
            <a:spAutoFit/>
          </a:bodyPr>
          <a:lstStyle/>
          <a:p>
            <a:pPr indent="-185421" lvl="1" marL="345443" marR="0" rtl="0" algn="l">
              <a:lnSpc>
                <a:spcPct val="100000"/>
              </a:lnSpc>
              <a:spcBef>
                <a:spcPts val="0"/>
              </a:spcBef>
              <a:spcAft>
                <a:spcPts val="0"/>
              </a:spcAft>
              <a:buClr>
                <a:srgbClr val="191919"/>
              </a:buClr>
              <a:buSzPts val="1400"/>
              <a:buFont typeface="Calibri"/>
              <a:buChar char="•"/>
            </a:pPr>
            <a:r>
              <a:rPr lang="en-US">
                <a:latin typeface="Calibri"/>
                <a:ea typeface="Calibri"/>
                <a:cs typeface="Calibri"/>
                <a:sym typeface="Calibri"/>
              </a:rPr>
              <a:t>Upskilling</a:t>
            </a:r>
            <a:endParaRPr>
              <a:latin typeface="Calibri"/>
              <a:ea typeface="Calibri"/>
              <a:cs typeface="Calibri"/>
              <a:sym typeface="Calibri"/>
            </a:endParaRPr>
          </a:p>
        </p:txBody>
      </p:sp>
      <p:grpSp>
        <p:nvGrpSpPr>
          <p:cNvPr id="111" name="Google Shape;111;p4"/>
          <p:cNvGrpSpPr/>
          <p:nvPr/>
        </p:nvGrpSpPr>
        <p:grpSpPr>
          <a:xfrm>
            <a:off x="8726646" y="1249309"/>
            <a:ext cx="2996386" cy="2563740"/>
            <a:chOff x="0" y="-28575"/>
            <a:chExt cx="1397954" cy="1105602"/>
          </a:xfrm>
        </p:grpSpPr>
        <p:sp>
          <p:nvSpPr>
            <p:cNvPr id="112" name="Google Shape;112;p4"/>
            <p:cNvSpPr/>
            <p:nvPr/>
          </p:nvSpPr>
          <p:spPr>
            <a:xfrm>
              <a:off x="0" y="0"/>
              <a:ext cx="1397954" cy="1077027"/>
            </a:xfrm>
            <a:custGeom>
              <a:rect b="b" l="l" r="r" t="t"/>
              <a:pathLst>
                <a:path extrusionOk="0" h="1077027" w="1397954">
                  <a:moveTo>
                    <a:pt x="0" y="0"/>
                  </a:moveTo>
                  <a:lnTo>
                    <a:pt x="1397954" y="0"/>
                  </a:lnTo>
                  <a:lnTo>
                    <a:pt x="1397954" y="1077027"/>
                  </a:lnTo>
                  <a:lnTo>
                    <a:pt x="0" y="1077027"/>
                  </a:lnTo>
                  <a:close/>
                </a:path>
              </a:pathLst>
            </a:custGeom>
            <a:solidFill>
              <a:srgbClr val="FFCD78"/>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 name="Google Shape;113;p4"/>
            <p:cNvSpPr txBox="1"/>
            <p:nvPr/>
          </p:nvSpPr>
          <p:spPr>
            <a:xfrm>
              <a:off x="0" y="-28575"/>
              <a:ext cx="1397954" cy="1105602"/>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4" name="Google Shape;114;p4"/>
          <p:cNvSpPr txBox="1"/>
          <p:nvPr/>
        </p:nvSpPr>
        <p:spPr>
          <a:xfrm>
            <a:off x="9035896" y="1540001"/>
            <a:ext cx="2377800" cy="1274400"/>
          </a:xfrm>
          <a:prstGeom prst="rect">
            <a:avLst/>
          </a:prstGeom>
          <a:noFill/>
          <a:ln>
            <a:noFill/>
          </a:ln>
        </p:spPr>
        <p:txBody>
          <a:bodyPr anchorCtr="0" anchor="t" bIns="45700" lIns="91425" spcFirstLastPara="1" rIns="91425" wrap="square" tIns="45700">
            <a:spAutoFit/>
          </a:bodyPr>
          <a:lstStyle/>
          <a:p>
            <a:pPr indent="0" lvl="0" marL="0" marR="0" rtl="0" algn="ctr">
              <a:lnSpc>
                <a:spcPct val="163333"/>
              </a:lnSpc>
              <a:spcBef>
                <a:spcPts val="0"/>
              </a:spcBef>
              <a:spcAft>
                <a:spcPts val="0"/>
              </a:spcAft>
              <a:buNone/>
            </a:pPr>
            <a:r>
              <a:rPr i="1" lang="en-US" sz="1800">
                <a:solidFill>
                  <a:schemeClr val="dk1"/>
                </a:solidFill>
                <a:latin typeface="Calibri"/>
                <a:ea typeface="Calibri"/>
                <a:cs typeface="Calibri"/>
                <a:sym typeface="Calibri"/>
              </a:rPr>
              <a:t>“I need something that can improve my productivity”</a:t>
            </a:r>
            <a:endParaRPr sz="1800">
              <a:solidFill>
                <a:srgbClr val="191919"/>
              </a:solidFill>
              <a:latin typeface="Calibri"/>
              <a:ea typeface="Calibri"/>
              <a:cs typeface="Calibri"/>
              <a:sym typeface="Calibri"/>
            </a:endParaRPr>
          </a:p>
        </p:txBody>
      </p:sp>
      <p:sp>
        <p:nvSpPr>
          <p:cNvPr id="115" name="Google Shape;115;p4"/>
          <p:cNvSpPr/>
          <p:nvPr/>
        </p:nvSpPr>
        <p:spPr>
          <a:xfrm>
            <a:off x="2635625" y="5532501"/>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6" name="Google Shape;116;p4"/>
          <p:cNvSpPr/>
          <p:nvPr/>
        </p:nvSpPr>
        <p:spPr>
          <a:xfrm>
            <a:off x="2635624" y="5873523"/>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7" name="Google Shape;117;p4"/>
          <p:cNvSpPr/>
          <p:nvPr/>
        </p:nvSpPr>
        <p:spPr>
          <a:xfrm>
            <a:off x="2635624" y="6236935"/>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8" name="Google Shape;118;p4"/>
          <p:cNvSpPr/>
          <p:nvPr/>
        </p:nvSpPr>
        <p:spPr>
          <a:xfrm>
            <a:off x="2644768" y="5553171"/>
            <a:ext cx="4972184" cy="130021"/>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9" name="Google Shape;119;p4"/>
          <p:cNvSpPr/>
          <p:nvPr/>
        </p:nvSpPr>
        <p:spPr>
          <a:xfrm>
            <a:off x="2635624" y="5881488"/>
            <a:ext cx="4652683" cy="156152"/>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20" name="Google Shape;120;p4"/>
          <p:cNvSpPr/>
          <p:nvPr/>
        </p:nvSpPr>
        <p:spPr>
          <a:xfrm>
            <a:off x="2644589" y="6249146"/>
            <a:ext cx="3811076" cy="160871"/>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21" name="Google Shape;121;p4"/>
          <p:cNvSpPr txBox="1"/>
          <p:nvPr/>
        </p:nvSpPr>
        <p:spPr>
          <a:xfrm>
            <a:off x="4909243" y="3357847"/>
            <a:ext cx="35949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Challenges</a:t>
            </a:r>
            <a:endParaRPr b="1">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She has to manually find the potential leads out of the list she is provided.</a:t>
            </a:r>
            <a:endParaRPr>
              <a:solidFill>
                <a:srgbClr val="191919"/>
              </a:solidFill>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She can’t know the details of the customer’s financial situation and budgets that she can push them towards.</a:t>
            </a:r>
            <a:endParaRPr>
              <a:latin typeface="Calibri"/>
              <a:ea typeface="Calibri"/>
              <a:cs typeface="Calibri"/>
              <a:sym typeface="Calibri"/>
            </a:endParaRPr>
          </a:p>
          <a:p>
            <a:pPr indent="0" lvl="0" marL="0" marR="0" rtl="0" algn="l">
              <a:lnSpc>
                <a:spcPct val="100000"/>
              </a:lnSpc>
              <a:spcBef>
                <a:spcPts val="0"/>
              </a:spcBef>
              <a:spcAft>
                <a:spcPts val="0"/>
              </a:spcAft>
              <a:buNone/>
            </a:pPr>
            <a:r>
              <a:t/>
            </a:r>
            <a:endParaRPr>
              <a:solidFill>
                <a:srgbClr val="191919"/>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solidFill>
                <a:srgbClr val="191919"/>
              </a:solidFill>
              <a:latin typeface="Calibri"/>
              <a:ea typeface="Calibri"/>
              <a:cs typeface="Calibri"/>
              <a:sym typeface="Calibri"/>
            </a:endParaRPr>
          </a:p>
        </p:txBody>
      </p:sp>
      <p:sp>
        <p:nvSpPr>
          <p:cNvPr id="122" name="Google Shape;122;p4"/>
          <p:cNvSpPr txBox="1"/>
          <p:nvPr/>
        </p:nvSpPr>
        <p:spPr>
          <a:xfrm>
            <a:off x="841250" y="3337013"/>
            <a:ext cx="38421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Needs</a:t>
            </a:r>
            <a:endParaRPr b="1">
              <a:latin typeface="Calibri"/>
              <a:ea typeface="Calibri"/>
              <a:cs typeface="Calibri"/>
              <a:sym typeface="Calibri"/>
            </a:endParaRPr>
          </a:p>
          <a:p>
            <a:pPr indent="-184150" lvl="0" marL="171450" marR="0" rtl="0" algn="l">
              <a:lnSpc>
                <a:spcPct val="100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Quickly understand target companies before meetings.</a:t>
            </a:r>
            <a:endParaRPr>
              <a:latin typeface="Calibri"/>
              <a:ea typeface="Calibri"/>
              <a:cs typeface="Calibri"/>
              <a:sym typeface="Calibri"/>
            </a:endParaRPr>
          </a:p>
          <a:p>
            <a:pPr indent="-184150" lvl="0" marL="171450" marR="0" rtl="0" algn="l">
              <a:lnSpc>
                <a:spcPct val="100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Identify upcoming construction and procurement opportunities </a:t>
            </a:r>
            <a:endParaRPr>
              <a:latin typeface="Calibri"/>
              <a:ea typeface="Calibri"/>
              <a:cs typeface="Calibri"/>
              <a:sym typeface="Calibri"/>
            </a:endParaRPr>
          </a:p>
          <a:p>
            <a:pPr indent="-184150" lvl="0" marL="171450" marR="0" rtl="0" algn="l">
              <a:lnSpc>
                <a:spcPct val="100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Deliver highly personalized product pitches based on project type</a:t>
            </a:r>
            <a:endParaRPr>
              <a:solidFill>
                <a:srgbClr val="191919"/>
              </a:solidFill>
              <a:latin typeface="Calibri"/>
              <a:ea typeface="Calibri"/>
              <a:cs typeface="Calibri"/>
              <a:sym typeface="Calibri"/>
            </a:endParaRPr>
          </a:p>
        </p:txBody>
      </p:sp>
      <p:sp>
        <p:nvSpPr>
          <p:cNvPr id="123" name="Google Shape;123;p4"/>
          <p:cNvSpPr txBox="1"/>
          <p:nvPr/>
        </p:nvSpPr>
        <p:spPr>
          <a:xfrm>
            <a:off x="874982" y="1444646"/>
            <a:ext cx="3303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Demographic Details</a:t>
            </a:r>
            <a:endParaRPr b="1">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Name: Aditi Rao </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Age: 25</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Occupation: Sales Rep</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Location: Pune</a:t>
            </a:r>
            <a:endParaRPr>
              <a:latin typeface="Calibri"/>
              <a:ea typeface="Calibri"/>
              <a:cs typeface="Calibri"/>
              <a:sym typeface="Calibri"/>
            </a:endParaRPr>
          </a:p>
          <a:p>
            <a:pPr indent="0" lvl="0" marL="0" marR="0" rtl="0" algn="l">
              <a:lnSpc>
                <a:spcPct val="100000"/>
              </a:lnSpc>
              <a:spcBef>
                <a:spcPts val="0"/>
              </a:spcBef>
              <a:spcAft>
                <a:spcPts val="0"/>
              </a:spcAft>
              <a:buNone/>
            </a:pPr>
            <a:r>
              <a:t/>
            </a:r>
            <a:endParaRPr>
              <a:solidFill>
                <a:srgbClr val="191919"/>
              </a:solidFill>
              <a:latin typeface="Calibri"/>
              <a:ea typeface="Calibri"/>
              <a:cs typeface="Calibri"/>
              <a:sym typeface="Calibri"/>
            </a:endParaRPr>
          </a:p>
        </p:txBody>
      </p:sp>
      <p:sp>
        <p:nvSpPr>
          <p:cNvPr id="124" name="Google Shape;124;p4"/>
          <p:cNvSpPr txBox="1"/>
          <p:nvPr/>
        </p:nvSpPr>
        <p:spPr>
          <a:xfrm>
            <a:off x="4909243" y="1402653"/>
            <a:ext cx="3583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Short Description</a:t>
            </a:r>
            <a:endParaRPr b="1">
              <a:latin typeface="Calibri"/>
              <a:ea typeface="Calibri"/>
              <a:cs typeface="Calibri"/>
              <a:sym typeface="Calibri"/>
            </a:endParaRPr>
          </a:p>
          <a:p>
            <a:pPr indent="0" lvl="0" marL="0" marR="0" rtl="0" algn="just">
              <a:lnSpc>
                <a:spcPct val="100000"/>
              </a:lnSpc>
              <a:spcBef>
                <a:spcPts val="0"/>
              </a:spcBef>
              <a:spcAft>
                <a:spcPts val="0"/>
              </a:spcAft>
              <a:buNone/>
            </a:pPr>
            <a:r>
              <a:rPr lang="en-US">
                <a:solidFill>
                  <a:schemeClr val="dk1"/>
                </a:solidFill>
                <a:latin typeface="Calibri"/>
                <a:ea typeface="Calibri"/>
                <a:cs typeface="Calibri"/>
                <a:sym typeface="Calibri"/>
              </a:rPr>
              <a:t>Aditi is a field sales representative working for a major paints and coatings company. She manages contractors, builders, and dealer networks across rapidly growing construction zones. Her success depends on identifying upcoming projects early and pitching the right paint solutions before competitors do.</a:t>
            </a:r>
            <a:endParaRPr>
              <a:solidFill>
                <a:srgbClr val="191919"/>
              </a:solidFill>
              <a:latin typeface="Calibri"/>
              <a:ea typeface="Calibri"/>
              <a:cs typeface="Calibri"/>
              <a:sym typeface="Calibri"/>
            </a:endParaRPr>
          </a:p>
        </p:txBody>
      </p:sp>
      <p:sp>
        <p:nvSpPr>
          <p:cNvPr id="125" name="Google Shape;125;p4"/>
          <p:cNvSpPr/>
          <p:nvPr/>
        </p:nvSpPr>
        <p:spPr>
          <a:xfrm>
            <a:off x="8726611" y="3977528"/>
            <a:ext cx="3041258" cy="2556593"/>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4"/>
          <p:cNvSpPr txBox="1"/>
          <p:nvPr/>
        </p:nvSpPr>
        <p:spPr>
          <a:xfrm>
            <a:off x="8805425" y="4060225"/>
            <a:ext cx="2901300" cy="289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Day in the life of…</a:t>
            </a:r>
            <a:endParaRPr b="1">
              <a:latin typeface="Calibri"/>
              <a:ea typeface="Calibri"/>
              <a:cs typeface="Calibri"/>
              <a:sym typeface="Calibri"/>
            </a:endParaRPr>
          </a:p>
          <a:p>
            <a:pPr indent="0" lvl="0" marL="0" marR="0" rtl="0" algn="just">
              <a:lnSpc>
                <a:spcPct val="100000"/>
              </a:lnSpc>
              <a:spcBef>
                <a:spcPts val="0"/>
              </a:spcBef>
              <a:spcAft>
                <a:spcPts val="0"/>
              </a:spcAft>
              <a:buNone/>
            </a:pPr>
            <a:r>
              <a:rPr lang="en-US">
                <a:solidFill>
                  <a:srgbClr val="191919"/>
                </a:solidFill>
                <a:latin typeface="Calibri"/>
                <a:ea typeface="Calibri"/>
                <a:cs typeface="Calibri"/>
                <a:sym typeface="Calibri"/>
              </a:rPr>
              <a:t>Aditi starts by receiving all the previous and existing clients, she has to manually get in touch with all of them to know if they could be the potential client of their products. Reviewing upcoming client meetings and site visits. Before every meeting, he spends time searching for company updates, project news, and procurement information online. </a:t>
            </a:r>
            <a:endParaRPr>
              <a:latin typeface="Calibri"/>
              <a:ea typeface="Calibri"/>
              <a:cs typeface="Calibri"/>
              <a:sym typeface="Calibri"/>
            </a:endParaRPr>
          </a:p>
          <a:p>
            <a:pPr indent="0" lvl="0" marL="0" marR="0" rtl="0" algn="l">
              <a:lnSpc>
                <a:spcPct val="100000"/>
              </a:lnSpc>
              <a:spcBef>
                <a:spcPts val="0"/>
              </a:spcBef>
              <a:spcAft>
                <a:spcPts val="0"/>
              </a:spcAft>
              <a:buNone/>
            </a:pPr>
            <a:r>
              <a:t/>
            </a:r>
            <a:endParaRPr>
              <a:solidFill>
                <a:srgbClr val="191919"/>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solidFill>
                <a:srgbClr val="191919"/>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519487" y="395104"/>
            <a:ext cx="8373501" cy="64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5285F"/>
              </a:buClr>
              <a:buSzPts val="3200"/>
              <a:buFont typeface="Calibri"/>
              <a:buNone/>
            </a:pPr>
            <a:r>
              <a:rPr lang="en-US" sz="3200">
                <a:latin typeface="Calibri"/>
                <a:ea typeface="Calibri"/>
                <a:cs typeface="Calibri"/>
                <a:sym typeface="Calibri"/>
              </a:rPr>
              <a:t>User Persona - Template</a:t>
            </a:r>
            <a:endParaRPr b="1" sz="3200">
              <a:latin typeface="Calibri"/>
              <a:ea typeface="Calibri"/>
              <a:cs typeface="Calibri"/>
              <a:sym typeface="Calibri"/>
            </a:endParaRPr>
          </a:p>
        </p:txBody>
      </p:sp>
      <p:sp>
        <p:nvSpPr>
          <p:cNvPr id="133" name="Google Shape;133;p5"/>
          <p:cNvSpPr/>
          <p:nvPr/>
        </p:nvSpPr>
        <p:spPr>
          <a:xfrm>
            <a:off x="618098" y="1084830"/>
            <a:ext cx="11278067" cy="5575945"/>
          </a:xfrm>
          <a:custGeom>
            <a:rect b="b" l="l" r="r" t="t"/>
            <a:pathLst>
              <a:path extrusionOk="0" h="2466200" w="4585054">
                <a:moveTo>
                  <a:pt x="0" y="0"/>
                </a:moveTo>
                <a:lnTo>
                  <a:pt x="4585054" y="0"/>
                </a:lnTo>
                <a:lnTo>
                  <a:pt x="4585054" y="2466200"/>
                </a:lnTo>
                <a:lnTo>
                  <a:pt x="0" y="246620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5"/>
          <p:cNvSpPr/>
          <p:nvPr/>
        </p:nvSpPr>
        <p:spPr>
          <a:xfrm>
            <a:off x="810198" y="1232370"/>
            <a:ext cx="3887387" cy="1986034"/>
          </a:xfrm>
          <a:custGeom>
            <a:rect b="b" l="l" r="r" t="t"/>
            <a:pathLst>
              <a:path extrusionOk="0" h="686384" w="1828383">
                <a:moveTo>
                  <a:pt x="0" y="0"/>
                </a:moveTo>
                <a:lnTo>
                  <a:pt x="1828383" y="0"/>
                </a:lnTo>
                <a:lnTo>
                  <a:pt x="1828383" y="686384"/>
                </a:lnTo>
                <a:lnTo>
                  <a:pt x="0" y="686384"/>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5" name="Google Shape;135;p5"/>
          <p:cNvSpPr txBox="1"/>
          <p:nvPr/>
        </p:nvSpPr>
        <p:spPr>
          <a:xfrm>
            <a:off x="830917" y="1242135"/>
            <a:ext cx="4270002" cy="1671865"/>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136" name="Google Shape;136;p5"/>
          <p:cNvGrpSpPr/>
          <p:nvPr/>
        </p:nvGrpSpPr>
        <p:grpSpPr>
          <a:xfrm>
            <a:off x="4881744" y="1245180"/>
            <a:ext cx="3701770" cy="2017723"/>
            <a:chOff x="0" y="-28575"/>
            <a:chExt cx="1004829" cy="819085"/>
          </a:xfrm>
        </p:grpSpPr>
        <p:sp>
          <p:nvSpPr>
            <p:cNvPr id="137" name="Google Shape;137;p5"/>
            <p:cNvSpPr/>
            <p:nvPr/>
          </p:nvSpPr>
          <p:spPr>
            <a:xfrm>
              <a:off x="0" y="0"/>
              <a:ext cx="1004829" cy="790510"/>
            </a:xfrm>
            <a:custGeom>
              <a:rect b="b" l="l" r="r" t="t"/>
              <a:pathLst>
                <a:path extrusionOk="0" h="790510" w="1004829">
                  <a:moveTo>
                    <a:pt x="0" y="0"/>
                  </a:moveTo>
                  <a:lnTo>
                    <a:pt x="1004829" y="0"/>
                  </a:lnTo>
                  <a:lnTo>
                    <a:pt x="1004829" y="790510"/>
                  </a:lnTo>
                  <a:lnTo>
                    <a:pt x="0" y="79051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8" name="Google Shape;138;p5"/>
            <p:cNvSpPr txBox="1"/>
            <p:nvPr/>
          </p:nvSpPr>
          <p:spPr>
            <a:xfrm>
              <a:off x="0" y="-28575"/>
              <a:ext cx="1004829" cy="819085"/>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chemeClr val="dk1"/>
                </a:solidFill>
                <a:latin typeface="Calibri"/>
                <a:ea typeface="Calibri"/>
                <a:cs typeface="Calibri"/>
                <a:sym typeface="Calibri"/>
              </a:endParaRPr>
            </a:p>
          </p:txBody>
        </p:sp>
      </p:grpSp>
      <p:sp>
        <p:nvSpPr>
          <p:cNvPr id="139" name="Google Shape;139;p5"/>
          <p:cNvSpPr/>
          <p:nvPr/>
        </p:nvSpPr>
        <p:spPr>
          <a:xfrm>
            <a:off x="830309" y="3356786"/>
            <a:ext cx="3830258" cy="1510074"/>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5"/>
          <p:cNvSpPr txBox="1"/>
          <p:nvPr/>
        </p:nvSpPr>
        <p:spPr>
          <a:xfrm>
            <a:off x="866774" y="2890591"/>
            <a:ext cx="4207250" cy="1771336"/>
          </a:xfrm>
          <a:prstGeom prst="rect">
            <a:avLst/>
          </a:prstGeom>
          <a:noFill/>
          <a:ln>
            <a:noFill/>
          </a:ln>
        </p:spPr>
        <p:txBody>
          <a:bodyPr anchorCtr="0" anchor="t" bIns="254000" lIns="254000" spcFirstLastPara="1" rIns="254000" wrap="square" tIns="254000">
            <a:noAutofit/>
          </a:bodyPr>
          <a:lstStyle/>
          <a:p>
            <a:pPr indent="-96521" lvl="1" marL="345441" marR="0" rtl="0" algn="l">
              <a:lnSpc>
                <a:spcPct val="189333"/>
              </a:lnSpc>
              <a:spcBef>
                <a:spcPts val="0"/>
              </a:spcBef>
              <a:spcAft>
                <a:spcPts val="0"/>
              </a:spcAft>
              <a:buClr>
                <a:schemeClr val="dk1"/>
              </a:buClr>
              <a:buSzPts val="1200"/>
              <a:buFont typeface="Arial"/>
              <a:buNone/>
            </a:pPr>
            <a:r>
              <a:t/>
            </a:r>
            <a:endParaRPr b="0" i="0" sz="1200" u="none" cap="none" strike="noStrike">
              <a:solidFill>
                <a:srgbClr val="191919"/>
              </a:solidFill>
              <a:latin typeface="Calibri"/>
              <a:ea typeface="Calibri"/>
              <a:cs typeface="Calibri"/>
              <a:sym typeface="Calibri"/>
            </a:endParaRPr>
          </a:p>
        </p:txBody>
      </p:sp>
      <p:sp>
        <p:nvSpPr>
          <p:cNvPr id="141" name="Google Shape;141;p5"/>
          <p:cNvSpPr/>
          <p:nvPr/>
        </p:nvSpPr>
        <p:spPr>
          <a:xfrm>
            <a:off x="4893497" y="3361637"/>
            <a:ext cx="3701770" cy="1505223"/>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5"/>
          <p:cNvSpPr txBox="1"/>
          <p:nvPr/>
        </p:nvSpPr>
        <p:spPr>
          <a:xfrm>
            <a:off x="5279455" y="2946631"/>
            <a:ext cx="3324778" cy="1719930"/>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143" name="Google Shape;143;p5"/>
          <p:cNvGrpSpPr/>
          <p:nvPr/>
        </p:nvGrpSpPr>
        <p:grpSpPr>
          <a:xfrm>
            <a:off x="874982" y="5056426"/>
            <a:ext cx="7729251" cy="1477696"/>
            <a:chOff x="0" y="-28575"/>
            <a:chExt cx="1828383" cy="677773"/>
          </a:xfrm>
        </p:grpSpPr>
        <p:sp>
          <p:nvSpPr>
            <p:cNvPr id="144" name="Google Shape;144;p5"/>
            <p:cNvSpPr/>
            <p:nvPr/>
          </p:nvSpPr>
          <p:spPr>
            <a:xfrm>
              <a:off x="0" y="0"/>
              <a:ext cx="1828383" cy="649198"/>
            </a:xfrm>
            <a:custGeom>
              <a:rect b="b" l="l" r="r" t="t"/>
              <a:pathLst>
                <a:path extrusionOk="0" h="649198" w="1828383">
                  <a:moveTo>
                    <a:pt x="0" y="0"/>
                  </a:moveTo>
                  <a:lnTo>
                    <a:pt x="1828383" y="0"/>
                  </a:lnTo>
                  <a:lnTo>
                    <a:pt x="1828383" y="649198"/>
                  </a:lnTo>
                  <a:lnTo>
                    <a:pt x="0" y="649198"/>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 name="Google Shape;145;p5"/>
            <p:cNvSpPr txBox="1"/>
            <p:nvPr/>
          </p:nvSpPr>
          <p:spPr>
            <a:xfrm>
              <a:off x="0" y="-28575"/>
              <a:ext cx="1828383" cy="677773"/>
            </a:xfrm>
            <a:prstGeom prst="rect">
              <a:avLst/>
            </a:prstGeom>
            <a:noFill/>
            <a:ln>
              <a:noFill/>
            </a:ln>
          </p:spPr>
          <p:txBody>
            <a:bodyPr anchorCtr="0" anchor="ctr" bIns="254000" lIns="254000" spcFirstLastPara="1" rIns="254000" wrap="square" tIns="254000">
              <a:noAutofit/>
            </a:bodyPr>
            <a:lstStyle/>
            <a:p>
              <a:pPr indent="0" lvl="0" marL="0" marR="0" rtl="0" algn="l">
                <a:lnSpc>
                  <a:spcPct val="162285"/>
                </a:lnSpc>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46" name="Google Shape;146;p5"/>
          <p:cNvSpPr txBox="1"/>
          <p:nvPr/>
        </p:nvSpPr>
        <p:spPr>
          <a:xfrm>
            <a:off x="1085537" y="5141587"/>
            <a:ext cx="5984700" cy="215400"/>
          </a:xfrm>
          <a:prstGeom prst="rect">
            <a:avLst/>
          </a:prstGeom>
          <a:noFill/>
          <a:ln>
            <a:noFill/>
          </a:ln>
        </p:spPr>
        <p:txBody>
          <a:bodyPr anchorCtr="0" anchor="t" bIns="0" lIns="0" spcFirstLastPara="1" rIns="0" wrap="square" tIns="0">
            <a:spAutoFit/>
          </a:bodyPr>
          <a:lstStyle/>
          <a:p>
            <a:pPr indent="0" lvl="0" marL="0" marR="0" rtl="0" algn="l">
              <a:lnSpc>
                <a:spcPct val="148571"/>
              </a:lnSpc>
              <a:spcBef>
                <a:spcPts val="0"/>
              </a:spcBef>
              <a:spcAft>
                <a:spcPts val="0"/>
              </a:spcAft>
              <a:buNone/>
            </a:pPr>
            <a:r>
              <a:rPr b="1" lang="en-US">
                <a:solidFill>
                  <a:srgbClr val="191919"/>
                </a:solidFill>
                <a:latin typeface="Calibri"/>
                <a:ea typeface="Calibri"/>
                <a:cs typeface="Calibri"/>
                <a:sym typeface="Calibri"/>
              </a:rPr>
              <a:t>Motivations:</a:t>
            </a:r>
            <a:endParaRPr>
              <a:latin typeface="Calibri"/>
              <a:ea typeface="Calibri"/>
              <a:cs typeface="Calibri"/>
              <a:sym typeface="Calibri"/>
            </a:endParaRPr>
          </a:p>
        </p:txBody>
      </p:sp>
      <p:sp>
        <p:nvSpPr>
          <p:cNvPr id="147" name="Google Shape;147;p5"/>
          <p:cNvSpPr txBox="1"/>
          <p:nvPr/>
        </p:nvSpPr>
        <p:spPr>
          <a:xfrm>
            <a:off x="971841" y="5840344"/>
            <a:ext cx="2134500" cy="215400"/>
          </a:xfrm>
          <a:prstGeom prst="rect">
            <a:avLst/>
          </a:prstGeom>
          <a:noFill/>
          <a:ln>
            <a:noFill/>
          </a:ln>
        </p:spPr>
        <p:txBody>
          <a:bodyPr anchorCtr="0" anchor="t" bIns="0" lIns="0" spcFirstLastPara="1" rIns="0" wrap="square" tIns="0">
            <a:spAutoFit/>
          </a:bodyPr>
          <a:lstStyle/>
          <a:p>
            <a:pPr indent="-185420" lvl="1" marL="345443" marR="0" rtl="0" algn="l">
              <a:lnSpc>
                <a:spcPct val="173333"/>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Efficiency</a:t>
            </a:r>
            <a:endParaRPr>
              <a:solidFill>
                <a:srgbClr val="191919"/>
              </a:solidFill>
              <a:latin typeface="Calibri"/>
              <a:ea typeface="Calibri"/>
              <a:cs typeface="Calibri"/>
              <a:sym typeface="Calibri"/>
            </a:endParaRPr>
          </a:p>
        </p:txBody>
      </p:sp>
      <p:sp>
        <p:nvSpPr>
          <p:cNvPr id="148" name="Google Shape;148;p5"/>
          <p:cNvSpPr txBox="1"/>
          <p:nvPr/>
        </p:nvSpPr>
        <p:spPr>
          <a:xfrm>
            <a:off x="971840" y="5457531"/>
            <a:ext cx="2134500" cy="215400"/>
          </a:xfrm>
          <a:prstGeom prst="rect">
            <a:avLst/>
          </a:prstGeom>
          <a:noFill/>
          <a:ln>
            <a:noFill/>
          </a:ln>
        </p:spPr>
        <p:txBody>
          <a:bodyPr anchorCtr="0" anchor="t" bIns="0" lIns="0" spcFirstLastPara="1" rIns="0" wrap="square" tIns="0">
            <a:spAutoFit/>
          </a:bodyPr>
          <a:lstStyle/>
          <a:p>
            <a:pPr indent="-185421" lvl="1" marL="345443" marR="0" rtl="0" algn="l">
              <a:lnSpc>
                <a:spcPct val="173333"/>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Control</a:t>
            </a:r>
            <a:endParaRPr>
              <a:latin typeface="Calibri"/>
              <a:ea typeface="Calibri"/>
              <a:cs typeface="Calibri"/>
              <a:sym typeface="Calibri"/>
            </a:endParaRPr>
          </a:p>
        </p:txBody>
      </p:sp>
      <p:sp>
        <p:nvSpPr>
          <p:cNvPr id="149" name="Google Shape;149;p5"/>
          <p:cNvSpPr txBox="1"/>
          <p:nvPr/>
        </p:nvSpPr>
        <p:spPr>
          <a:xfrm>
            <a:off x="971841" y="6215108"/>
            <a:ext cx="2134500" cy="215400"/>
          </a:xfrm>
          <a:prstGeom prst="rect">
            <a:avLst/>
          </a:prstGeom>
          <a:noFill/>
          <a:ln>
            <a:noFill/>
          </a:ln>
        </p:spPr>
        <p:txBody>
          <a:bodyPr anchorCtr="0" anchor="t" bIns="0" lIns="0" spcFirstLastPara="1" rIns="0" wrap="square" tIns="0">
            <a:spAutoFit/>
          </a:bodyPr>
          <a:lstStyle/>
          <a:p>
            <a:pPr indent="-185420" lvl="1" marL="345443" marR="0" rtl="0" algn="l">
              <a:lnSpc>
                <a:spcPct val="173333"/>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Leadership</a:t>
            </a:r>
            <a:endParaRPr>
              <a:solidFill>
                <a:srgbClr val="191919"/>
              </a:solidFill>
              <a:latin typeface="Calibri"/>
              <a:ea typeface="Calibri"/>
              <a:cs typeface="Calibri"/>
              <a:sym typeface="Calibri"/>
            </a:endParaRPr>
          </a:p>
        </p:txBody>
      </p:sp>
      <p:grpSp>
        <p:nvGrpSpPr>
          <p:cNvPr id="150" name="Google Shape;150;p5"/>
          <p:cNvGrpSpPr/>
          <p:nvPr/>
        </p:nvGrpSpPr>
        <p:grpSpPr>
          <a:xfrm>
            <a:off x="8726646" y="1249309"/>
            <a:ext cx="2996386" cy="2563740"/>
            <a:chOff x="0" y="-28575"/>
            <a:chExt cx="1397954" cy="1105602"/>
          </a:xfrm>
        </p:grpSpPr>
        <p:sp>
          <p:nvSpPr>
            <p:cNvPr id="151" name="Google Shape;151;p5"/>
            <p:cNvSpPr/>
            <p:nvPr/>
          </p:nvSpPr>
          <p:spPr>
            <a:xfrm>
              <a:off x="0" y="0"/>
              <a:ext cx="1397954" cy="1077027"/>
            </a:xfrm>
            <a:custGeom>
              <a:rect b="b" l="l" r="r" t="t"/>
              <a:pathLst>
                <a:path extrusionOk="0" h="1077027" w="1397954">
                  <a:moveTo>
                    <a:pt x="0" y="0"/>
                  </a:moveTo>
                  <a:lnTo>
                    <a:pt x="1397954" y="0"/>
                  </a:lnTo>
                  <a:lnTo>
                    <a:pt x="1397954" y="1077027"/>
                  </a:lnTo>
                  <a:lnTo>
                    <a:pt x="0" y="1077027"/>
                  </a:lnTo>
                  <a:close/>
                </a:path>
              </a:pathLst>
            </a:custGeom>
            <a:solidFill>
              <a:srgbClr val="FFCD78"/>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2" name="Google Shape;152;p5"/>
            <p:cNvSpPr txBox="1"/>
            <p:nvPr/>
          </p:nvSpPr>
          <p:spPr>
            <a:xfrm>
              <a:off x="0" y="-28575"/>
              <a:ext cx="1397954" cy="1105602"/>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53" name="Google Shape;153;p5"/>
          <p:cNvSpPr txBox="1"/>
          <p:nvPr/>
        </p:nvSpPr>
        <p:spPr>
          <a:xfrm>
            <a:off x="8805425" y="1415309"/>
            <a:ext cx="2802300" cy="2308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1" lang="en-US" sz="1800">
                <a:solidFill>
                  <a:schemeClr val="dk1"/>
                </a:solidFill>
                <a:latin typeface="Calibri"/>
                <a:ea typeface="Calibri"/>
                <a:cs typeface="Calibri"/>
                <a:sym typeface="Calibri"/>
              </a:rPr>
              <a:t>“My sales teams shouldn’t spend hours searching for information before every client meeting. </a:t>
            </a:r>
            <a:endParaRPr i="1"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i="1" lang="en-US" sz="1800">
                <a:solidFill>
                  <a:schemeClr val="dk1"/>
                </a:solidFill>
                <a:latin typeface="Calibri"/>
                <a:ea typeface="Calibri"/>
                <a:cs typeface="Calibri"/>
                <a:sym typeface="Calibri"/>
              </a:rPr>
              <a:t>I need them to focus on closing the right opportunities with the right strategy.”</a:t>
            </a:r>
            <a:endParaRPr sz="1800">
              <a:solidFill>
                <a:srgbClr val="191919"/>
              </a:solidFill>
              <a:latin typeface="Calibri"/>
              <a:ea typeface="Calibri"/>
              <a:cs typeface="Calibri"/>
              <a:sym typeface="Calibri"/>
            </a:endParaRPr>
          </a:p>
        </p:txBody>
      </p:sp>
      <p:sp>
        <p:nvSpPr>
          <p:cNvPr id="154" name="Google Shape;154;p5"/>
          <p:cNvSpPr/>
          <p:nvPr/>
        </p:nvSpPr>
        <p:spPr>
          <a:xfrm>
            <a:off x="2635625" y="5532501"/>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55" name="Google Shape;155;p5"/>
          <p:cNvSpPr/>
          <p:nvPr/>
        </p:nvSpPr>
        <p:spPr>
          <a:xfrm>
            <a:off x="2635624" y="5873523"/>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56" name="Google Shape;156;p5"/>
          <p:cNvSpPr/>
          <p:nvPr/>
        </p:nvSpPr>
        <p:spPr>
          <a:xfrm>
            <a:off x="2635624" y="6236935"/>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57" name="Google Shape;157;p5"/>
          <p:cNvSpPr/>
          <p:nvPr/>
        </p:nvSpPr>
        <p:spPr>
          <a:xfrm>
            <a:off x="2644768" y="5553171"/>
            <a:ext cx="4972184" cy="130021"/>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58" name="Google Shape;158;p5"/>
          <p:cNvSpPr/>
          <p:nvPr/>
        </p:nvSpPr>
        <p:spPr>
          <a:xfrm>
            <a:off x="2635624" y="5881488"/>
            <a:ext cx="4652683" cy="156152"/>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59" name="Google Shape;159;p5"/>
          <p:cNvSpPr/>
          <p:nvPr/>
        </p:nvSpPr>
        <p:spPr>
          <a:xfrm>
            <a:off x="2644589" y="6249146"/>
            <a:ext cx="3811076" cy="160871"/>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60" name="Google Shape;160;p5"/>
          <p:cNvSpPr txBox="1"/>
          <p:nvPr/>
        </p:nvSpPr>
        <p:spPr>
          <a:xfrm>
            <a:off x="4909243" y="3357847"/>
            <a:ext cx="3594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Challenges</a:t>
            </a:r>
            <a:endParaRPr>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Limited visibility into real-time market demand</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Inconsistent quality of sales preparation among reps</a:t>
            </a:r>
            <a:endParaRPr>
              <a:solidFill>
                <a:schemeClr val="dk1"/>
              </a:solidFill>
              <a:latin typeface="Calibri"/>
              <a:ea typeface="Calibri"/>
              <a:cs typeface="Calibri"/>
              <a:sym typeface="Calibri"/>
            </a:endParaRPr>
          </a:p>
          <a:p>
            <a:pPr indent="0" lvl="0" marL="0" rtl="0" algn="l">
              <a:spcBef>
                <a:spcPts val="0"/>
              </a:spcBef>
              <a:spcAft>
                <a:spcPts val="0"/>
              </a:spcAft>
              <a:buSzPts val="1100"/>
              <a:buNone/>
            </a:pPr>
            <a:r>
              <a:rPr lang="en-US">
                <a:solidFill>
                  <a:schemeClr val="dk1"/>
                </a:solidFill>
                <a:latin typeface="Calibri"/>
                <a:ea typeface="Calibri"/>
                <a:cs typeface="Calibri"/>
                <a:sym typeface="Calibri"/>
              </a:rPr>
              <a:t>Teams rely heavily on personal networks for leads</a:t>
            </a:r>
            <a:endParaRPr>
              <a:solidFill>
                <a:schemeClr val="dk1"/>
              </a:solidFill>
              <a:latin typeface="Calibri"/>
              <a:ea typeface="Calibri"/>
              <a:cs typeface="Calibri"/>
              <a:sym typeface="Calibri"/>
            </a:endParaRPr>
          </a:p>
        </p:txBody>
      </p:sp>
      <p:sp>
        <p:nvSpPr>
          <p:cNvPr id="161" name="Google Shape;161;p5"/>
          <p:cNvSpPr txBox="1"/>
          <p:nvPr/>
        </p:nvSpPr>
        <p:spPr>
          <a:xfrm>
            <a:off x="874983" y="3356786"/>
            <a:ext cx="3669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Needs</a:t>
            </a:r>
            <a:endParaRPr>
              <a:latin typeface="Calibri"/>
              <a:ea typeface="Calibri"/>
              <a:cs typeface="Calibri"/>
              <a:sym typeface="Calibri"/>
            </a:endParaRPr>
          </a:p>
          <a:p>
            <a:pPr indent="-317500" lvl="0" marL="457200" rtl="0" algn="l">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Identify high-potential regions and accounts</a:t>
            </a:r>
            <a:endParaRPr>
              <a:solidFill>
                <a:srgbClr val="191919"/>
              </a:solidFill>
              <a:latin typeface="Calibri"/>
              <a:ea typeface="Calibri"/>
              <a:cs typeface="Calibri"/>
              <a:sym typeface="Calibri"/>
            </a:endParaRPr>
          </a:p>
          <a:p>
            <a:pPr indent="-317500" lvl="0" marL="457200" rtl="0" algn="l">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Improve lead prioritization across teams</a:t>
            </a:r>
            <a:endParaRPr>
              <a:solidFill>
                <a:srgbClr val="191919"/>
              </a:solidFill>
              <a:latin typeface="Calibri"/>
              <a:ea typeface="Calibri"/>
              <a:cs typeface="Calibri"/>
              <a:sym typeface="Calibri"/>
            </a:endParaRPr>
          </a:p>
          <a:p>
            <a:pPr indent="-317500" lvl="0" marL="457200" rtl="0" algn="l">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Gain visibility into upcoming market opportunities</a:t>
            </a:r>
            <a:endParaRPr>
              <a:solidFill>
                <a:srgbClr val="191919"/>
              </a:solidFill>
              <a:latin typeface="Calibri"/>
              <a:ea typeface="Calibri"/>
              <a:cs typeface="Calibri"/>
              <a:sym typeface="Calibri"/>
            </a:endParaRPr>
          </a:p>
        </p:txBody>
      </p:sp>
      <p:sp>
        <p:nvSpPr>
          <p:cNvPr id="162" name="Google Shape;162;p5"/>
          <p:cNvSpPr txBox="1"/>
          <p:nvPr/>
        </p:nvSpPr>
        <p:spPr>
          <a:xfrm>
            <a:off x="874982" y="1444646"/>
            <a:ext cx="33039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Demographic Details</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latin typeface="Calibri"/>
                <a:ea typeface="Calibri"/>
                <a:cs typeface="Calibri"/>
                <a:sym typeface="Calibri"/>
              </a:rPr>
              <a:t>Name: Priya Sharma</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latin typeface="Calibri"/>
                <a:ea typeface="Calibri"/>
                <a:cs typeface="Calibri"/>
                <a:sym typeface="Calibri"/>
              </a:rPr>
              <a:t>Age: 41</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latin typeface="Calibri"/>
                <a:ea typeface="Calibri"/>
                <a:cs typeface="Calibri"/>
                <a:sym typeface="Calibri"/>
              </a:rPr>
              <a:t>Occupation: Regional Sales Manager</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latin typeface="Calibri"/>
                <a:ea typeface="Calibri"/>
                <a:cs typeface="Calibri"/>
                <a:sym typeface="Calibri"/>
              </a:rPr>
              <a:t>Location:Bengaluru, India</a:t>
            </a:r>
            <a:endParaRPr>
              <a:latin typeface="Calibri"/>
              <a:ea typeface="Calibri"/>
              <a:cs typeface="Calibri"/>
              <a:sym typeface="Calibri"/>
            </a:endParaRPr>
          </a:p>
        </p:txBody>
      </p:sp>
      <p:sp>
        <p:nvSpPr>
          <p:cNvPr id="163" name="Google Shape;163;p5"/>
          <p:cNvSpPr txBox="1"/>
          <p:nvPr/>
        </p:nvSpPr>
        <p:spPr>
          <a:xfrm>
            <a:off x="4909243" y="1402653"/>
            <a:ext cx="35832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Short Description</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Priya oversees multiple sales teams across South India. She is responsible for territory performance, pipeline visibility, and revenue growth. She needs accurate market intelligence to guide sales strategy and improve forecasting.</a:t>
            </a:r>
            <a:endParaRPr>
              <a:latin typeface="Calibri"/>
              <a:ea typeface="Calibri"/>
              <a:cs typeface="Calibri"/>
              <a:sym typeface="Calibri"/>
            </a:endParaRPr>
          </a:p>
        </p:txBody>
      </p:sp>
      <p:sp>
        <p:nvSpPr>
          <p:cNvPr id="164" name="Google Shape;164;p5"/>
          <p:cNvSpPr/>
          <p:nvPr/>
        </p:nvSpPr>
        <p:spPr>
          <a:xfrm>
            <a:off x="8726611" y="3977528"/>
            <a:ext cx="3041258" cy="2556593"/>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5"/>
          <p:cNvSpPr txBox="1"/>
          <p:nvPr/>
        </p:nvSpPr>
        <p:spPr>
          <a:xfrm>
            <a:off x="8805425" y="4060233"/>
            <a:ext cx="2901300" cy="246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Day in the life of…</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Priya spends her day reviewing sales reports, pipeline updates, and regional performance metrics. She frequently attends strategy meetings and helps sales reps prepare for large institutional deals. She constantly looks for better visibility into market demand and wants her teams to proactively target emerging opportunities instead of reacting late.</a:t>
            </a:r>
            <a:endParaRPr>
              <a:solidFill>
                <a:srgbClr val="191919"/>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6"/>
          <p:cNvSpPr txBox="1"/>
          <p:nvPr>
            <p:ph type="title"/>
          </p:nvPr>
        </p:nvSpPr>
        <p:spPr>
          <a:xfrm>
            <a:off x="519487" y="395104"/>
            <a:ext cx="8373501" cy="64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5285F"/>
              </a:buClr>
              <a:buSzPts val="3200"/>
              <a:buFont typeface="Calibri"/>
              <a:buNone/>
            </a:pPr>
            <a:r>
              <a:rPr lang="en-US" sz="3200">
                <a:latin typeface="Calibri"/>
                <a:ea typeface="Calibri"/>
                <a:cs typeface="Calibri"/>
                <a:sym typeface="Calibri"/>
              </a:rPr>
              <a:t>User Persona - Template</a:t>
            </a:r>
            <a:endParaRPr b="1" sz="3200">
              <a:latin typeface="Calibri"/>
              <a:ea typeface="Calibri"/>
              <a:cs typeface="Calibri"/>
              <a:sym typeface="Calibri"/>
            </a:endParaRPr>
          </a:p>
        </p:txBody>
      </p:sp>
      <p:sp>
        <p:nvSpPr>
          <p:cNvPr id="172" name="Google Shape;172;p6"/>
          <p:cNvSpPr/>
          <p:nvPr/>
        </p:nvSpPr>
        <p:spPr>
          <a:xfrm>
            <a:off x="618098" y="1084830"/>
            <a:ext cx="11278067" cy="5575945"/>
          </a:xfrm>
          <a:custGeom>
            <a:rect b="b" l="l" r="r" t="t"/>
            <a:pathLst>
              <a:path extrusionOk="0" h="2466200" w="4585054">
                <a:moveTo>
                  <a:pt x="0" y="0"/>
                </a:moveTo>
                <a:lnTo>
                  <a:pt x="4585054" y="0"/>
                </a:lnTo>
                <a:lnTo>
                  <a:pt x="4585054" y="2466200"/>
                </a:lnTo>
                <a:lnTo>
                  <a:pt x="0" y="246620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6"/>
          <p:cNvSpPr/>
          <p:nvPr/>
        </p:nvSpPr>
        <p:spPr>
          <a:xfrm>
            <a:off x="810198" y="1232370"/>
            <a:ext cx="3887387" cy="1986034"/>
          </a:xfrm>
          <a:custGeom>
            <a:rect b="b" l="l" r="r" t="t"/>
            <a:pathLst>
              <a:path extrusionOk="0" h="686384" w="1828383">
                <a:moveTo>
                  <a:pt x="0" y="0"/>
                </a:moveTo>
                <a:lnTo>
                  <a:pt x="1828383" y="0"/>
                </a:lnTo>
                <a:lnTo>
                  <a:pt x="1828383" y="686384"/>
                </a:lnTo>
                <a:lnTo>
                  <a:pt x="0" y="686384"/>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4" name="Google Shape;174;p6"/>
          <p:cNvSpPr txBox="1"/>
          <p:nvPr/>
        </p:nvSpPr>
        <p:spPr>
          <a:xfrm>
            <a:off x="830917" y="1242135"/>
            <a:ext cx="4270002" cy="1671865"/>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175" name="Google Shape;175;p6"/>
          <p:cNvGrpSpPr/>
          <p:nvPr/>
        </p:nvGrpSpPr>
        <p:grpSpPr>
          <a:xfrm>
            <a:off x="4881744" y="1245180"/>
            <a:ext cx="3701770" cy="2017723"/>
            <a:chOff x="0" y="-28575"/>
            <a:chExt cx="1004829" cy="819085"/>
          </a:xfrm>
        </p:grpSpPr>
        <p:sp>
          <p:nvSpPr>
            <p:cNvPr id="176" name="Google Shape;176;p6"/>
            <p:cNvSpPr/>
            <p:nvPr/>
          </p:nvSpPr>
          <p:spPr>
            <a:xfrm>
              <a:off x="0" y="0"/>
              <a:ext cx="1004829" cy="790510"/>
            </a:xfrm>
            <a:custGeom>
              <a:rect b="b" l="l" r="r" t="t"/>
              <a:pathLst>
                <a:path extrusionOk="0" h="790510" w="1004829">
                  <a:moveTo>
                    <a:pt x="0" y="0"/>
                  </a:moveTo>
                  <a:lnTo>
                    <a:pt x="1004829" y="0"/>
                  </a:lnTo>
                  <a:lnTo>
                    <a:pt x="1004829" y="790510"/>
                  </a:lnTo>
                  <a:lnTo>
                    <a:pt x="0" y="79051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7" name="Google Shape;177;p6"/>
            <p:cNvSpPr txBox="1"/>
            <p:nvPr/>
          </p:nvSpPr>
          <p:spPr>
            <a:xfrm>
              <a:off x="0" y="-28575"/>
              <a:ext cx="1004829" cy="819085"/>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chemeClr val="dk1"/>
                </a:solidFill>
                <a:latin typeface="Calibri"/>
                <a:ea typeface="Calibri"/>
                <a:cs typeface="Calibri"/>
                <a:sym typeface="Calibri"/>
              </a:endParaRPr>
            </a:p>
          </p:txBody>
        </p:sp>
      </p:grpSp>
      <p:sp>
        <p:nvSpPr>
          <p:cNvPr id="178" name="Google Shape;178;p6"/>
          <p:cNvSpPr/>
          <p:nvPr/>
        </p:nvSpPr>
        <p:spPr>
          <a:xfrm>
            <a:off x="830309" y="3356786"/>
            <a:ext cx="3830258" cy="1510074"/>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6"/>
          <p:cNvSpPr txBox="1"/>
          <p:nvPr/>
        </p:nvSpPr>
        <p:spPr>
          <a:xfrm>
            <a:off x="866774" y="2890591"/>
            <a:ext cx="4207250" cy="1771336"/>
          </a:xfrm>
          <a:prstGeom prst="rect">
            <a:avLst/>
          </a:prstGeom>
          <a:noFill/>
          <a:ln>
            <a:noFill/>
          </a:ln>
        </p:spPr>
        <p:txBody>
          <a:bodyPr anchorCtr="0" anchor="t" bIns="254000" lIns="254000" spcFirstLastPara="1" rIns="254000" wrap="square" tIns="254000">
            <a:noAutofit/>
          </a:bodyPr>
          <a:lstStyle/>
          <a:p>
            <a:pPr indent="-96521" lvl="1" marL="345441" marR="0" rtl="0" algn="l">
              <a:lnSpc>
                <a:spcPct val="189333"/>
              </a:lnSpc>
              <a:spcBef>
                <a:spcPts val="0"/>
              </a:spcBef>
              <a:spcAft>
                <a:spcPts val="0"/>
              </a:spcAft>
              <a:buClr>
                <a:schemeClr val="dk1"/>
              </a:buClr>
              <a:buSzPts val="1200"/>
              <a:buFont typeface="Arial"/>
              <a:buNone/>
            </a:pPr>
            <a:r>
              <a:t/>
            </a:r>
            <a:endParaRPr b="0" i="0" sz="1200" u="none" cap="none" strike="noStrike">
              <a:solidFill>
                <a:srgbClr val="191919"/>
              </a:solidFill>
              <a:latin typeface="Calibri"/>
              <a:ea typeface="Calibri"/>
              <a:cs typeface="Calibri"/>
              <a:sym typeface="Calibri"/>
            </a:endParaRPr>
          </a:p>
        </p:txBody>
      </p:sp>
      <p:sp>
        <p:nvSpPr>
          <p:cNvPr id="180" name="Google Shape;180;p6"/>
          <p:cNvSpPr/>
          <p:nvPr/>
        </p:nvSpPr>
        <p:spPr>
          <a:xfrm>
            <a:off x="4893497" y="3361637"/>
            <a:ext cx="3701770" cy="1505223"/>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6"/>
          <p:cNvSpPr txBox="1"/>
          <p:nvPr/>
        </p:nvSpPr>
        <p:spPr>
          <a:xfrm>
            <a:off x="5279455" y="2946631"/>
            <a:ext cx="3324778" cy="1719930"/>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182" name="Google Shape;182;p6"/>
          <p:cNvGrpSpPr/>
          <p:nvPr/>
        </p:nvGrpSpPr>
        <p:grpSpPr>
          <a:xfrm>
            <a:off x="874982" y="5056426"/>
            <a:ext cx="7729251" cy="1477696"/>
            <a:chOff x="0" y="-28575"/>
            <a:chExt cx="1828383" cy="677773"/>
          </a:xfrm>
        </p:grpSpPr>
        <p:sp>
          <p:nvSpPr>
            <p:cNvPr id="183" name="Google Shape;183;p6"/>
            <p:cNvSpPr/>
            <p:nvPr/>
          </p:nvSpPr>
          <p:spPr>
            <a:xfrm>
              <a:off x="0" y="0"/>
              <a:ext cx="1828383" cy="649198"/>
            </a:xfrm>
            <a:custGeom>
              <a:rect b="b" l="l" r="r" t="t"/>
              <a:pathLst>
                <a:path extrusionOk="0" h="649198" w="1828383">
                  <a:moveTo>
                    <a:pt x="0" y="0"/>
                  </a:moveTo>
                  <a:lnTo>
                    <a:pt x="1828383" y="0"/>
                  </a:lnTo>
                  <a:lnTo>
                    <a:pt x="1828383" y="649198"/>
                  </a:lnTo>
                  <a:lnTo>
                    <a:pt x="0" y="649198"/>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4" name="Google Shape;184;p6"/>
            <p:cNvSpPr txBox="1"/>
            <p:nvPr/>
          </p:nvSpPr>
          <p:spPr>
            <a:xfrm>
              <a:off x="0" y="-28575"/>
              <a:ext cx="1828383" cy="677773"/>
            </a:xfrm>
            <a:prstGeom prst="rect">
              <a:avLst/>
            </a:prstGeom>
            <a:noFill/>
            <a:ln>
              <a:noFill/>
            </a:ln>
          </p:spPr>
          <p:txBody>
            <a:bodyPr anchorCtr="0" anchor="ctr" bIns="254000" lIns="254000" spcFirstLastPara="1" rIns="254000" wrap="square" tIns="254000">
              <a:noAutofit/>
            </a:bodyPr>
            <a:lstStyle/>
            <a:p>
              <a:pPr indent="0" lvl="0" marL="0" marR="0" rtl="0" algn="l">
                <a:lnSpc>
                  <a:spcPct val="162285"/>
                </a:lnSpc>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85" name="Google Shape;185;p6"/>
          <p:cNvSpPr txBox="1"/>
          <p:nvPr/>
        </p:nvSpPr>
        <p:spPr>
          <a:xfrm>
            <a:off x="1085537" y="5141587"/>
            <a:ext cx="5984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Motivations:</a:t>
            </a:r>
            <a:endParaRPr>
              <a:latin typeface="Calibri"/>
              <a:ea typeface="Calibri"/>
              <a:cs typeface="Calibri"/>
              <a:sym typeface="Calibri"/>
            </a:endParaRPr>
          </a:p>
        </p:txBody>
      </p:sp>
      <p:sp>
        <p:nvSpPr>
          <p:cNvPr id="186" name="Google Shape;186;p6"/>
          <p:cNvSpPr txBox="1"/>
          <p:nvPr/>
        </p:nvSpPr>
        <p:spPr>
          <a:xfrm>
            <a:off x="903828" y="5840344"/>
            <a:ext cx="2134500" cy="215400"/>
          </a:xfrm>
          <a:prstGeom prst="rect">
            <a:avLst/>
          </a:prstGeom>
          <a:noFill/>
          <a:ln>
            <a:noFill/>
          </a:ln>
        </p:spPr>
        <p:txBody>
          <a:bodyPr anchorCtr="0" anchor="t" bIns="0" lIns="0" spcFirstLastPara="1" rIns="0" wrap="square" tIns="0">
            <a:spAutoFit/>
          </a:bodyPr>
          <a:lstStyle/>
          <a:p>
            <a:pPr indent="-185421" lvl="1" marL="345443" marR="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Predicting trends</a:t>
            </a:r>
            <a:endParaRPr>
              <a:latin typeface="Calibri"/>
              <a:ea typeface="Calibri"/>
              <a:cs typeface="Calibri"/>
              <a:sym typeface="Calibri"/>
            </a:endParaRPr>
          </a:p>
        </p:txBody>
      </p:sp>
      <p:sp>
        <p:nvSpPr>
          <p:cNvPr id="187" name="Google Shape;187;p6"/>
          <p:cNvSpPr txBox="1"/>
          <p:nvPr/>
        </p:nvSpPr>
        <p:spPr>
          <a:xfrm>
            <a:off x="903827" y="5457531"/>
            <a:ext cx="2134500" cy="215400"/>
          </a:xfrm>
          <a:prstGeom prst="rect">
            <a:avLst/>
          </a:prstGeom>
          <a:noFill/>
          <a:ln>
            <a:noFill/>
          </a:ln>
        </p:spPr>
        <p:txBody>
          <a:bodyPr anchorCtr="0" anchor="t" bIns="0" lIns="0" spcFirstLastPara="1" rIns="0" wrap="square" tIns="0">
            <a:spAutoFit/>
          </a:bodyPr>
          <a:lstStyle/>
          <a:p>
            <a:pPr indent="-185421" lvl="1" marL="345443" marR="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Secure Deals</a:t>
            </a:r>
            <a:endParaRPr>
              <a:latin typeface="Calibri"/>
              <a:ea typeface="Calibri"/>
              <a:cs typeface="Calibri"/>
              <a:sym typeface="Calibri"/>
            </a:endParaRPr>
          </a:p>
        </p:txBody>
      </p:sp>
      <p:sp>
        <p:nvSpPr>
          <p:cNvPr id="188" name="Google Shape;188;p6"/>
          <p:cNvSpPr txBox="1"/>
          <p:nvPr/>
        </p:nvSpPr>
        <p:spPr>
          <a:xfrm>
            <a:off x="903828" y="6215108"/>
            <a:ext cx="2134500" cy="215400"/>
          </a:xfrm>
          <a:prstGeom prst="rect">
            <a:avLst/>
          </a:prstGeom>
          <a:noFill/>
          <a:ln>
            <a:noFill/>
          </a:ln>
        </p:spPr>
        <p:txBody>
          <a:bodyPr anchorCtr="0" anchor="t" bIns="0" lIns="0" spcFirstLastPara="1" rIns="0" wrap="square" tIns="0">
            <a:spAutoFit/>
          </a:bodyPr>
          <a:lstStyle/>
          <a:p>
            <a:pPr indent="-185421" lvl="1" marL="345443" marR="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Time Management </a:t>
            </a:r>
            <a:endParaRPr>
              <a:latin typeface="Calibri"/>
              <a:ea typeface="Calibri"/>
              <a:cs typeface="Calibri"/>
              <a:sym typeface="Calibri"/>
            </a:endParaRPr>
          </a:p>
        </p:txBody>
      </p:sp>
      <p:grpSp>
        <p:nvGrpSpPr>
          <p:cNvPr id="189" name="Google Shape;189;p6"/>
          <p:cNvGrpSpPr/>
          <p:nvPr/>
        </p:nvGrpSpPr>
        <p:grpSpPr>
          <a:xfrm>
            <a:off x="8726646" y="1249309"/>
            <a:ext cx="2996386" cy="2563740"/>
            <a:chOff x="0" y="-28575"/>
            <a:chExt cx="1397954" cy="1105602"/>
          </a:xfrm>
        </p:grpSpPr>
        <p:sp>
          <p:nvSpPr>
            <p:cNvPr id="190" name="Google Shape;190;p6"/>
            <p:cNvSpPr/>
            <p:nvPr/>
          </p:nvSpPr>
          <p:spPr>
            <a:xfrm>
              <a:off x="0" y="0"/>
              <a:ext cx="1397954" cy="1077027"/>
            </a:xfrm>
            <a:custGeom>
              <a:rect b="b" l="l" r="r" t="t"/>
              <a:pathLst>
                <a:path extrusionOk="0" h="1077027" w="1397954">
                  <a:moveTo>
                    <a:pt x="0" y="0"/>
                  </a:moveTo>
                  <a:lnTo>
                    <a:pt x="1397954" y="0"/>
                  </a:lnTo>
                  <a:lnTo>
                    <a:pt x="1397954" y="1077027"/>
                  </a:lnTo>
                  <a:lnTo>
                    <a:pt x="0" y="1077027"/>
                  </a:lnTo>
                  <a:close/>
                </a:path>
              </a:pathLst>
            </a:custGeom>
            <a:solidFill>
              <a:srgbClr val="FFCD78"/>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1" name="Google Shape;191;p6"/>
            <p:cNvSpPr txBox="1"/>
            <p:nvPr/>
          </p:nvSpPr>
          <p:spPr>
            <a:xfrm>
              <a:off x="0" y="-28575"/>
              <a:ext cx="1397954" cy="1105602"/>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92" name="Google Shape;192;p6"/>
          <p:cNvSpPr/>
          <p:nvPr/>
        </p:nvSpPr>
        <p:spPr>
          <a:xfrm>
            <a:off x="2635625" y="5532501"/>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3" name="Google Shape;193;p6"/>
          <p:cNvSpPr txBox="1"/>
          <p:nvPr/>
        </p:nvSpPr>
        <p:spPr>
          <a:xfrm>
            <a:off x="9035896" y="1540001"/>
            <a:ext cx="2377800" cy="2031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1" lang="en-US" sz="1800">
                <a:solidFill>
                  <a:schemeClr val="dk1"/>
                </a:solidFill>
                <a:latin typeface="Calibri"/>
                <a:ea typeface="Calibri"/>
                <a:cs typeface="Calibri"/>
                <a:sym typeface="Calibri"/>
              </a:rPr>
              <a:t>“The real advantage isn’t knowing what projects exist today; it’s knowing what will happen six months before everyone else does.”</a:t>
            </a:r>
            <a:endParaRPr sz="1800">
              <a:solidFill>
                <a:srgbClr val="191919"/>
              </a:solidFill>
              <a:latin typeface="Calibri"/>
              <a:ea typeface="Calibri"/>
              <a:cs typeface="Calibri"/>
              <a:sym typeface="Calibri"/>
            </a:endParaRPr>
          </a:p>
        </p:txBody>
      </p:sp>
      <p:sp>
        <p:nvSpPr>
          <p:cNvPr id="194" name="Google Shape;194;p6"/>
          <p:cNvSpPr/>
          <p:nvPr/>
        </p:nvSpPr>
        <p:spPr>
          <a:xfrm>
            <a:off x="2635624" y="5873523"/>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5" name="Google Shape;195;p6"/>
          <p:cNvSpPr/>
          <p:nvPr/>
        </p:nvSpPr>
        <p:spPr>
          <a:xfrm>
            <a:off x="2635624" y="6236935"/>
            <a:ext cx="5226423" cy="173082"/>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6" name="Google Shape;196;p6"/>
          <p:cNvSpPr/>
          <p:nvPr/>
        </p:nvSpPr>
        <p:spPr>
          <a:xfrm>
            <a:off x="2644768" y="5553171"/>
            <a:ext cx="4972184" cy="130021"/>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7" name="Google Shape;197;p6"/>
          <p:cNvSpPr/>
          <p:nvPr/>
        </p:nvSpPr>
        <p:spPr>
          <a:xfrm>
            <a:off x="2635624" y="5881488"/>
            <a:ext cx="4652683" cy="156152"/>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8" name="Google Shape;198;p6"/>
          <p:cNvSpPr/>
          <p:nvPr/>
        </p:nvSpPr>
        <p:spPr>
          <a:xfrm>
            <a:off x="2644589" y="6249146"/>
            <a:ext cx="3811076" cy="160871"/>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9" name="Google Shape;199;p6"/>
          <p:cNvSpPr/>
          <p:nvPr/>
        </p:nvSpPr>
        <p:spPr>
          <a:xfrm>
            <a:off x="8726600" y="3876750"/>
            <a:ext cx="3042120" cy="2657645"/>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6"/>
          <p:cNvSpPr txBox="1"/>
          <p:nvPr/>
        </p:nvSpPr>
        <p:spPr>
          <a:xfrm>
            <a:off x="4909243" y="1402653"/>
            <a:ext cx="3583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Short Description</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latin typeface="Calibri"/>
                <a:ea typeface="Calibri"/>
                <a:cs typeface="Calibri"/>
                <a:sym typeface="Calibri"/>
              </a:rPr>
              <a:t>Arvind handles enterprise-level partnerships for a paints and coatings company focused on infrastructure, manufacturing plants, and large-scale industrial projects. Arvind often feels that by the time information reaches his team, competitors have already started building relationships.</a:t>
            </a:r>
            <a:endParaRPr>
              <a:latin typeface="Calibri"/>
              <a:ea typeface="Calibri"/>
              <a:cs typeface="Calibri"/>
              <a:sym typeface="Calibri"/>
            </a:endParaRPr>
          </a:p>
        </p:txBody>
      </p:sp>
      <p:sp>
        <p:nvSpPr>
          <p:cNvPr id="201" name="Google Shape;201;p6"/>
          <p:cNvSpPr txBox="1"/>
          <p:nvPr/>
        </p:nvSpPr>
        <p:spPr>
          <a:xfrm>
            <a:off x="784291" y="3322768"/>
            <a:ext cx="40068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Needs</a:t>
            </a:r>
            <a:endParaRPr>
              <a:latin typeface="Calibri"/>
              <a:ea typeface="Calibri"/>
              <a:cs typeface="Calibri"/>
              <a:sym typeface="Calibri"/>
            </a:endParaRPr>
          </a:p>
          <a:p>
            <a:pPr indent="-317500" lvl="0" marL="45720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Detect upcoming industrial and infrastructure projects early</a:t>
            </a:r>
            <a:endParaRPr>
              <a:solidFill>
                <a:srgbClr val="191919"/>
              </a:solidFill>
              <a:latin typeface="Calibri"/>
              <a:ea typeface="Calibri"/>
              <a:cs typeface="Calibri"/>
              <a:sym typeface="Calibri"/>
            </a:endParaRPr>
          </a:p>
          <a:p>
            <a:pPr indent="-317500" lvl="0" marL="45720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Track investment announcements, plant expansions, and policy approvals</a:t>
            </a:r>
            <a:endParaRPr>
              <a:solidFill>
                <a:srgbClr val="191919"/>
              </a:solidFill>
              <a:latin typeface="Calibri"/>
              <a:ea typeface="Calibri"/>
              <a:cs typeface="Calibri"/>
              <a:sym typeface="Calibri"/>
            </a:endParaRPr>
          </a:p>
          <a:p>
            <a:pPr indent="-317500" lvl="0" marL="45720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Identify strategic partnership opportunities with contractors and developers</a:t>
            </a:r>
            <a:endParaRPr>
              <a:solidFill>
                <a:srgbClr val="191919"/>
              </a:solidFill>
              <a:latin typeface="Calibri"/>
              <a:ea typeface="Calibri"/>
              <a:cs typeface="Calibri"/>
              <a:sym typeface="Calibri"/>
            </a:endParaRPr>
          </a:p>
        </p:txBody>
      </p:sp>
      <p:sp>
        <p:nvSpPr>
          <p:cNvPr id="202" name="Google Shape;202;p6"/>
          <p:cNvSpPr txBox="1"/>
          <p:nvPr/>
        </p:nvSpPr>
        <p:spPr>
          <a:xfrm>
            <a:off x="4886572" y="3312505"/>
            <a:ext cx="35949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Challenges</a:t>
            </a:r>
            <a:endParaRPr>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US">
                <a:latin typeface="Calibri"/>
                <a:ea typeface="Calibri"/>
                <a:cs typeface="Calibri"/>
                <a:sym typeface="Calibri"/>
              </a:rPr>
              <a:t>Hard to connect fragmented information into a clear strategic picture</a:t>
            </a:r>
            <a:endParaRPr>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US">
                <a:latin typeface="Calibri"/>
                <a:ea typeface="Calibri"/>
                <a:cs typeface="Calibri"/>
                <a:sym typeface="Calibri"/>
              </a:rPr>
              <a:t>Misses early engagement opportunities due to delayed intelligence</a:t>
            </a:r>
            <a:endParaRPr>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US">
                <a:latin typeface="Calibri"/>
                <a:ea typeface="Calibri"/>
                <a:cs typeface="Calibri"/>
                <a:sym typeface="Calibri"/>
              </a:rPr>
              <a:t>Existing tools provide data, but not actionable strategic insights</a:t>
            </a:r>
            <a:endParaRPr>
              <a:latin typeface="Calibri"/>
              <a:ea typeface="Calibri"/>
              <a:cs typeface="Calibri"/>
              <a:sym typeface="Calibri"/>
            </a:endParaRPr>
          </a:p>
          <a:p>
            <a:pPr indent="0" lvl="0" marL="0" marR="0" rtl="0" algn="l">
              <a:lnSpc>
                <a:spcPct val="100000"/>
              </a:lnSpc>
              <a:spcBef>
                <a:spcPts val="0"/>
              </a:spcBef>
              <a:spcAft>
                <a:spcPts val="0"/>
              </a:spcAft>
              <a:buNone/>
            </a:pPr>
            <a:r>
              <a:t/>
            </a:r>
            <a:endParaRPr>
              <a:latin typeface="Calibri"/>
              <a:ea typeface="Calibri"/>
              <a:cs typeface="Calibri"/>
              <a:sym typeface="Calibri"/>
            </a:endParaRPr>
          </a:p>
        </p:txBody>
      </p:sp>
      <p:sp>
        <p:nvSpPr>
          <p:cNvPr id="203" name="Google Shape;203;p6"/>
          <p:cNvSpPr txBox="1"/>
          <p:nvPr/>
        </p:nvSpPr>
        <p:spPr>
          <a:xfrm>
            <a:off x="874975" y="1444649"/>
            <a:ext cx="3303900" cy="19164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None/>
            </a:pPr>
            <a:r>
              <a:rPr b="1" lang="en-US">
                <a:solidFill>
                  <a:srgbClr val="191919"/>
                </a:solidFill>
                <a:latin typeface="Calibri"/>
                <a:ea typeface="Calibri"/>
                <a:cs typeface="Calibri"/>
                <a:sym typeface="Calibri"/>
              </a:rPr>
              <a:t>Demographic Details</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a:solidFill>
                  <a:schemeClr val="dk1"/>
                </a:solidFill>
                <a:latin typeface="Calibri"/>
                <a:ea typeface="Calibri"/>
                <a:cs typeface="Calibri"/>
                <a:sym typeface="Calibri"/>
              </a:rPr>
              <a:t>Name: Arvind Rao</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a:solidFill>
                  <a:schemeClr val="dk1"/>
                </a:solidFill>
                <a:latin typeface="Calibri"/>
                <a:ea typeface="Calibri"/>
                <a:cs typeface="Calibri"/>
                <a:sym typeface="Calibri"/>
              </a:rPr>
              <a:t>Age: 46 Years</a:t>
            </a:r>
            <a:br>
              <a:rPr lang="en-US">
                <a:solidFill>
                  <a:schemeClr val="dk1"/>
                </a:solidFill>
                <a:latin typeface="Calibri"/>
                <a:ea typeface="Calibri"/>
                <a:cs typeface="Calibri"/>
                <a:sym typeface="Calibri"/>
              </a:rPr>
            </a:br>
            <a:r>
              <a:rPr lang="en-US">
                <a:solidFill>
                  <a:schemeClr val="dk1"/>
                </a:solidFill>
                <a:latin typeface="Calibri"/>
                <a:ea typeface="Calibri"/>
                <a:cs typeface="Calibri"/>
                <a:sym typeface="Calibri"/>
              </a:rPr>
              <a:t>Occupation: Head of Strategic Business Development – Industrial Coatings</a:t>
            </a:r>
            <a:br>
              <a:rPr lang="en-US">
                <a:solidFill>
                  <a:schemeClr val="dk1"/>
                </a:solidFill>
                <a:latin typeface="Calibri"/>
                <a:ea typeface="Calibri"/>
                <a:cs typeface="Calibri"/>
                <a:sym typeface="Calibri"/>
              </a:rPr>
            </a:br>
            <a:r>
              <a:rPr lang="en-US">
                <a:solidFill>
                  <a:schemeClr val="dk1"/>
                </a:solidFill>
                <a:latin typeface="Calibri"/>
                <a:ea typeface="Calibri"/>
                <a:cs typeface="Calibri"/>
                <a:sym typeface="Calibri"/>
              </a:rPr>
              <a:t>Location: Hyderabad</a:t>
            </a:r>
            <a:endParaRPr>
              <a:solidFill>
                <a:schemeClr val="dk1"/>
              </a:solidFill>
              <a:latin typeface="Calibri"/>
              <a:ea typeface="Calibri"/>
              <a:cs typeface="Calibri"/>
              <a:sym typeface="Calibri"/>
            </a:endParaRPr>
          </a:p>
          <a:p>
            <a:pPr indent="0" lvl="0" marL="0" rtl="0" algn="l">
              <a:lnSpc>
                <a:spcPct val="100000"/>
              </a:lnSpc>
              <a:spcBef>
                <a:spcPts val="1200"/>
              </a:spcBef>
              <a:spcAft>
                <a:spcPts val="1200"/>
              </a:spcAft>
              <a:buSzPts val="1100"/>
              <a:buNone/>
            </a:pPr>
            <a:r>
              <a:t/>
            </a:r>
            <a:endParaRPr>
              <a:solidFill>
                <a:schemeClr val="dk1"/>
              </a:solidFill>
              <a:latin typeface="Calibri"/>
              <a:ea typeface="Calibri"/>
              <a:cs typeface="Calibri"/>
              <a:sym typeface="Calibri"/>
            </a:endParaRPr>
          </a:p>
        </p:txBody>
      </p:sp>
      <p:sp>
        <p:nvSpPr>
          <p:cNvPr id="204" name="Google Shape;204;p6"/>
          <p:cNvSpPr txBox="1"/>
          <p:nvPr/>
        </p:nvSpPr>
        <p:spPr>
          <a:xfrm>
            <a:off x="8752972" y="3853392"/>
            <a:ext cx="30420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Day in the life of…</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Arvind spends most of his day in leadership discussions, partnership negotiations, and market review meetings. He monitors government infrastructure announcements, industrial investments, and contractor networks to identify sectors with future coating demand. Before executive reviews, he compiles insights from external and internal </a:t>
            </a:r>
            <a:r>
              <a:rPr lang="en-US">
                <a:solidFill>
                  <a:srgbClr val="191919"/>
                </a:solidFill>
                <a:latin typeface="Calibri"/>
                <a:ea typeface="Calibri"/>
                <a:cs typeface="Calibri"/>
                <a:sym typeface="Calibri"/>
              </a:rPr>
              <a:t>sources</a:t>
            </a:r>
            <a:r>
              <a:rPr lang="en-US">
                <a:solidFill>
                  <a:srgbClr val="191919"/>
                </a:solidFill>
                <a:latin typeface="Calibri"/>
                <a:ea typeface="Calibri"/>
                <a:cs typeface="Calibri"/>
                <a:sym typeface="Calibri"/>
              </a:rPr>
              <a:t> to understand market direction.</a:t>
            </a:r>
            <a:endParaRPr>
              <a:solidFill>
                <a:srgbClr val="191919"/>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e2b2c32063_2_0"/>
          <p:cNvSpPr txBox="1"/>
          <p:nvPr>
            <p:ph type="title"/>
          </p:nvPr>
        </p:nvSpPr>
        <p:spPr>
          <a:xfrm>
            <a:off x="519487" y="395104"/>
            <a:ext cx="8373600" cy="64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5285F"/>
              </a:buClr>
              <a:buSzPts val="3200"/>
              <a:buFont typeface="Calibri"/>
              <a:buNone/>
            </a:pPr>
            <a:r>
              <a:rPr lang="en-US" sz="3200">
                <a:latin typeface="Calibri"/>
                <a:ea typeface="Calibri"/>
                <a:cs typeface="Calibri"/>
                <a:sym typeface="Calibri"/>
              </a:rPr>
              <a:t>User Persona - Template</a:t>
            </a:r>
            <a:endParaRPr b="1" sz="3200">
              <a:latin typeface="Calibri"/>
              <a:ea typeface="Calibri"/>
              <a:cs typeface="Calibri"/>
              <a:sym typeface="Calibri"/>
            </a:endParaRPr>
          </a:p>
        </p:txBody>
      </p:sp>
      <p:sp>
        <p:nvSpPr>
          <p:cNvPr id="211" name="Google Shape;211;g3e2b2c32063_2_0"/>
          <p:cNvSpPr/>
          <p:nvPr/>
        </p:nvSpPr>
        <p:spPr>
          <a:xfrm>
            <a:off x="618098" y="1084830"/>
            <a:ext cx="11279233" cy="5573612"/>
          </a:xfrm>
          <a:custGeom>
            <a:rect b="b" l="l" r="r" t="t"/>
            <a:pathLst>
              <a:path extrusionOk="0" h="2466200" w="4585054">
                <a:moveTo>
                  <a:pt x="0" y="0"/>
                </a:moveTo>
                <a:lnTo>
                  <a:pt x="4585054" y="0"/>
                </a:lnTo>
                <a:lnTo>
                  <a:pt x="4585054" y="2466200"/>
                </a:lnTo>
                <a:lnTo>
                  <a:pt x="0" y="246620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g3e2b2c32063_2_0"/>
          <p:cNvSpPr/>
          <p:nvPr/>
        </p:nvSpPr>
        <p:spPr>
          <a:xfrm>
            <a:off x="810198" y="1232370"/>
            <a:ext cx="3885314" cy="1985366"/>
          </a:xfrm>
          <a:custGeom>
            <a:rect b="b" l="l" r="r" t="t"/>
            <a:pathLst>
              <a:path extrusionOk="0" h="686384" w="1828383">
                <a:moveTo>
                  <a:pt x="0" y="0"/>
                </a:moveTo>
                <a:lnTo>
                  <a:pt x="1828383" y="0"/>
                </a:lnTo>
                <a:lnTo>
                  <a:pt x="1828383" y="686384"/>
                </a:lnTo>
                <a:lnTo>
                  <a:pt x="0" y="686384"/>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3" name="Google Shape;213;g3e2b2c32063_2_0"/>
          <p:cNvSpPr txBox="1"/>
          <p:nvPr/>
        </p:nvSpPr>
        <p:spPr>
          <a:xfrm>
            <a:off x="830917" y="1242135"/>
            <a:ext cx="4269900" cy="1671900"/>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214" name="Google Shape;214;g3e2b2c32063_2_0"/>
          <p:cNvGrpSpPr/>
          <p:nvPr/>
        </p:nvGrpSpPr>
        <p:grpSpPr>
          <a:xfrm>
            <a:off x="4881744" y="1245179"/>
            <a:ext cx="3701790" cy="2017734"/>
            <a:chOff x="0" y="-28575"/>
            <a:chExt cx="1004829" cy="819085"/>
          </a:xfrm>
        </p:grpSpPr>
        <p:sp>
          <p:nvSpPr>
            <p:cNvPr id="215" name="Google Shape;215;g3e2b2c32063_2_0"/>
            <p:cNvSpPr/>
            <p:nvPr/>
          </p:nvSpPr>
          <p:spPr>
            <a:xfrm>
              <a:off x="0" y="0"/>
              <a:ext cx="1004829" cy="790510"/>
            </a:xfrm>
            <a:custGeom>
              <a:rect b="b" l="l" r="r" t="t"/>
              <a:pathLst>
                <a:path extrusionOk="0" h="790510" w="1004829">
                  <a:moveTo>
                    <a:pt x="0" y="0"/>
                  </a:moveTo>
                  <a:lnTo>
                    <a:pt x="1004829" y="0"/>
                  </a:lnTo>
                  <a:lnTo>
                    <a:pt x="1004829" y="790510"/>
                  </a:lnTo>
                  <a:lnTo>
                    <a:pt x="0" y="79051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6" name="Google Shape;216;g3e2b2c32063_2_0"/>
            <p:cNvSpPr txBox="1"/>
            <p:nvPr/>
          </p:nvSpPr>
          <p:spPr>
            <a:xfrm>
              <a:off x="0" y="-28575"/>
              <a:ext cx="1004700" cy="819000"/>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chemeClr val="dk1"/>
                </a:solidFill>
                <a:latin typeface="Calibri"/>
                <a:ea typeface="Calibri"/>
                <a:cs typeface="Calibri"/>
                <a:sym typeface="Calibri"/>
              </a:endParaRPr>
            </a:p>
          </p:txBody>
        </p:sp>
      </p:grpSp>
      <p:sp>
        <p:nvSpPr>
          <p:cNvPr id="217" name="Google Shape;217;g3e2b2c32063_2_0"/>
          <p:cNvSpPr/>
          <p:nvPr/>
        </p:nvSpPr>
        <p:spPr>
          <a:xfrm>
            <a:off x="830309" y="3356786"/>
            <a:ext cx="3830911" cy="1510406"/>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g3e2b2c32063_2_0"/>
          <p:cNvSpPr txBox="1"/>
          <p:nvPr/>
        </p:nvSpPr>
        <p:spPr>
          <a:xfrm>
            <a:off x="866774" y="2890591"/>
            <a:ext cx="4207200" cy="1771200"/>
          </a:xfrm>
          <a:prstGeom prst="rect">
            <a:avLst/>
          </a:prstGeom>
          <a:noFill/>
          <a:ln>
            <a:noFill/>
          </a:ln>
        </p:spPr>
        <p:txBody>
          <a:bodyPr anchorCtr="0" anchor="t" bIns="254000" lIns="254000" spcFirstLastPara="1" rIns="254000" wrap="square" tIns="254000">
            <a:noAutofit/>
          </a:bodyPr>
          <a:lstStyle/>
          <a:p>
            <a:pPr indent="-96521" lvl="1" marL="345441" marR="0" rtl="0" algn="l">
              <a:lnSpc>
                <a:spcPct val="189333"/>
              </a:lnSpc>
              <a:spcBef>
                <a:spcPts val="0"/>
              </a:spcBef>
              <a:spcAft>
                <a:spcPts val="0"/>
              </a:spcAft>
              <a:buClr>
                <a:schemeClr val="dk1"/>
              </a:buClr>
              <a:buSzPts val="1200"/>
              <a:buFont typeface="Arial"/>
              <a:buNone/>
            </a:pPr>
            <a:r>
              <a:t/>
            </a:r>
            <a:endParaRPr b="0" i="0" sz="1200" u="none" cap="none" strike="noStrike">
              <a:solidFill>
                <a:srgbClr val="191919"/>
              </a:solidFill>
              <a:latin typeface="Calibri"/>
              <a:ea typeface="Calibri"/>
              <a:cs typeface="Calibri"/>
              <a:sym typeface="Calibri"/>
            </a:endParaRPr>
          </a:p>
        </p:txBody>
      </p:sp>
      <p:sp>
        <p:nvSpPr>
          <p:cNvPr id="219" name="Google Shape;219;g3e2b2c32063_2_0"/>
          <p:cNvSpPr/>
          <p:nvPr/>
        </p:nvSpPr>
        <p:spPr>
          <a:xfrm>
            <a:off x="4893497" y="3361637"/>
            <a:ext cx="3702795" cy="1504819"/>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g3e2b2c32063_2_0"/>
          <p:cNvSpPr txBox="1"/>
          <p:nvPr/>
        </p:nvSpPr>
        <p:spPr>
          <a:xfrm>
            <a:off x="5279455" y="2946631"/>
            <a:ext cx="3324900" cy="1719900"/>
          </a:xfrm>
          <a:prstGeom prst="rect">
            <a:avLst/>
          </a:prstGeom>
          <a:noFill/>
          <a:ln>
            <a:noFill/>
          </a:ln>
        </p:spPr>
        <p:txBody>
          <a:bodyPr anchorCtr="0" anchor="t" bIns="254000" lIns="254000" spcFirstLastPara="1" rIns="254000" wrap="square" tIns="254000">
            <a:noAutofit/>
          </a:bodyPr>
          <a:lstStyle/>
          <a:p>
            <a:pPr indent="0" lvl="0" marL="0" marR="0" rtl="0" algn="l">
              <a:lnSpc>
                <a:spcPct val="189333"/>
              </a:lnSpc>
              <a:spcBef>
                <a:spcPts val="0"/>
              </a:spcBef>
              <a:spcAft>
                <a:spcPts val="0"/>
              </a:spcAft>
              <a:buNone/>
            </a:pPr>
            <a:r>
              <a:t/>
            </a:r>
            <a:endParaRPr sz="1200">
              <a:solidFill>
                <a:srgbClr val="191919"/>
              </a:solidFill>
              <a:latin typeface="Calibri"/>
              <a:ea typeface="Calibri"/>
              <a:cs typeface="Calibri"/>
              <a:sym typeface="Calibri"/>
            </a:endParaRPr>
          </a:p>
        </p:txBody>
      </p:sp>
      <p:grpSp>
        <p:nvGrpSpPr>
          <p:cNvPr id="221" name="Google Shape;221;g3e2b2c32063_2_0"/>
          <p:cNvGrpSpPr/>
          <p:nvPr/>
        </p:nvGrpSpPr>
        <p:grpSpPr>
          <a:xfrm>
            <a:off x="874982" y="5056427"/>
            <a:ext cx="7729801" cy="1477681"/>
            <a:chOff x="0" y="-28575"/>
            <a:chExt cx="1828500" cy="677773"/>
          </a:xfrm>
        </p:grpSpPr>
        <p:sp>
          <p:nvSpPr>
            <p:cNvPr id="222" name="Google Shape;222;g3e2b2c32063_2_0"/>
            <p:cNvSpPr/>
            <p:nvPr/>
          </p:nvSpPr>
          <p:spPr>
            <a:xfrm>
              <a:off x="0" y="0"/>
              <a:ext cx="1828383" cy="649198"/>
            </a:xfrm>
            <a:custGeom>
              <a:rect b="b" l="l" r="r" t="t"/>
              <a:pathLst>
                <a:path extrusionOk="0" h="649198" w="1828383">
                  <a:moveTo>
                    <a:pt x="0" y="0"/>
                  </a:moveTo>
                  <a:lnTo>
                    <a:pt x="1828383" y="0"/>
                  </a:lnTo>
                  <a:lnTo>
                    <a:pt x="1828383" y="649198"/>
                  </a:lnTo>
                  <a:lnTo>
                    <a:pt x="0" y="649198"/>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3" name="Google Shape;223;g3e2b2c32063_2_0"/>
            <p:cNvSpPr txBox="1"/>
            <p:nvPr/>
          </p:nvSpPr>
          <p:spPr>
            <a:xfrm>
              <a:off x="0" y="-28575"/>
              <a:ext cx="1828500" cy="677700"/>
            </a:xfrm>
            <a:prstGeom prst="rect">
              <a:avLst/>
            </a:prstGeom>
            <a:noFill/>
            <a:ln>
              <a:noFill/>
            </a:ln>
          </p:spPr>
          <p:txBody>
            <a:bodyPr anchorCtr="0" anchor="ctr" bIns="254000" lIns="254000" spcFirstLastPara="1" rIns="254000" wrap="square" tIns="254000">
              <a:noAutofit/>
            </a:bodyPr>
            <a:lstStyle/>
            <a:p>
              <a:pPr indent="0" lvl="0" marL="0" marR="0" rtl="0" algn="l">
                <a:lnSpc>
                  <a:spcPct val="162285"/>
                </a:lnSpc>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24" name="Google Shape;224;g3e2b2c32063_2_0"/>
          <p:cNvSpPr txBox="1"/>
          <p:nvPr/>
        </p:nvSpPr>
        <p:spPr>
          <a:xfrm>
            <a:off x="1085537" y="5141587"/>
            <a:ext cx="5984700" cy="215400"/>
          </a:xfrm>
          <a:prstGeom prst="rect">
            <a:avLst/>
          </a:prstGeom>
          <a:noFill/>
          <a:ln>
            <a:noFill/>
          </a:ln>
        </p:spPr>
        <p:txBody>
          <a:bodyPr anchorCtr="0" anchor="t" bIns="0" lIns="0" spcFirstLastPara="1" rIns="0" wrap="square" tIns="0">
            <a:spAutoFit/>
          </a:bodyPr>
          <a:lstStyle/>
          <a:p>
            <a:pPr indent="0" lvl="0" marL="0" marR="0" rtl="0" algn="l">
              <a:lnSpc>
                <a:spcPct val="148571"/>
              </a:lnSpc>
              <a:spcBef>
                <a:spcPts val="0"/>
              </a:spcBef>
              <a:spcAft>
                <a:spcPts val="0"/>
              </a:spcAft>
              <a:buNone/>
            </a:pPr>
            <a:r>
              <a:rPr b="1" lang="en-US">
                <a:solidFill>
                  <a:srgbClr val="191919"/>
                </a:solidFill>
                <a:latin typeface="Calibri"/>
                <a:ea typeface="Calibri"/>
                <a:cs typeface="Calibri"/>
                <a:sym typeface="Calibri"/>
              </a:rPr>
              <a:t>Motivations:</a:t>
            </a:r>
            <a:endParaRPr>
              <a:latin typeface="Calibri"/>
              <a:ea typeface="Calibri"/>
              <a:cs typeface="Calibri"/>
              <a:sym typeface="Calibri"/>
            </a:endParaRPr>
          </a:p>
        </p:txBody>
      </p:sp>
      <p:sp>
        <p:nvSpPr>
          <p:cNvPr id="225" name="Google Shape;225;g3e2b2c32063_2_0"/>
          <p:cNvSpPr txBox="1"/>
          <p:nvPr/>
        </p:nvSpPr>
        <p:spPr>
          <a:xfrm>
            <a:off x="971841" y="5840344"/>
            <a:ext cx="2134500" cy="215400"/>
          </a:xfrm>
          <a:prstGeom prst="rect">
            <a:avLst/>
          </a:prstGeom>
          <a:noFill/>
          <a:ln>
            <a:noFill/>
          </a:ln>
        </p:spPr>
        <p:txBody>
          <a:bodyPr anchorCtr="0" anchor="t" bIns="0" lIns="0" spcFirstLastPara="1" rIns="0" wrap="square" tIns="0">
            <a:spAutoFit/>
          </a:bodyPr>
          <a:lstStyle/>
          <a:p>
            <a:pPr indent="-304800" lvl="0" marL="457200" rtl="0" algn="l">
              <a:lnSpc>
                <a:spcPct val="173333"/>
              </a:lnSpc>
              <a:spcBef>
                <a:spcPts val="0"/>
              </a:spcBef>
              <a:spcAft>
                <a:spcPts val="0"/>
              </a:spcAft>
              <a:buClr>
                <a:srgbClr val="191919"/>
              </a:buClr>
              <a:buSzPts val="1200"/>
              <a:buFont typeface="Calibri"/>
              <a:buChar char="●"/>
            </a:pPr>
            <a:r>
              <a:rPr lang="en-US">
                <a:solidFill>
                  <a:srgbClr val="191919"/>
                </a:solidFill>
                <a:latin typeface="Calibri"/>
                <a:ea typeface="Calibri"/>
                <a:cs typeface="Calibri"/>
                <a:sym typeface="Calibri"/>
              </a:rPr>
              <a:t>Cost efficiency</a:t>
            </a:r>
            <a:endParaRPr>
              <a:solidFill>
                <a:srgbClr val="191919"/>
              </a:solidFill>
              <a:latin typeface="Calibri"/>
              <a:ea typeface="Calibri"/>
              <a:cs typeface="Calibri"/>
              <a:sym typeface="Calibri"/>
            </a:endParaRPr>
          </a:p>
        </p:txBody>
      </p:sp>
      <p:sp>
        <p:nvSpPr>
          <p:cNvPr id="226" name="Google Shape;226;g3e2b2c32063_2_0"/>
          <p:cNvSpPr txBox="1"/>
          <p:nvPr/>
        </p:nvSpPr>
        <p:spPr>
          <a:xfrm>
            <a:off x="971840" y="5457531"/>
            <a:ext cx="2134500" cy="215400"/>
          </a:xfrm>
          <a:prstGeom prst="rect">
            <a:avLst/>
          </a:prstGeom>
          <a:noFill/>
          <a:ln>
            <a:noFill/>
          </a:ln>
        </p:spPr>
        <p:txBody>
          <a:bodyPr anchorCtr="0" anchor="t" bIns="0" lIns="0" spcFirstLastPara="1" rIns="0" wrap="square" tIns="0">
            <a:spAutoFit/>
          </a:bodyPr>
          <a:lstStyle/>
          <a:p>
            <a:pPr indent="-317500" lvl="0" marL="457200" rtl="0" algn="l">
              <a:lnSpc>
                <a:spcPct val="173333"/>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Strategic im</a:t>
            </a:r>
            <a:r>
              <a:rPr lang="en-US">
                <a:solidFill>
                  <a:srgbClr val="191919"/>
                </a:solidFill>
                <a:latin typeface="Calibri"/>
                <a:ea typeface="Calibri"/>
                <a:cs typeface="Calibri"/>
                <a:sym typeface="Calibri"/>
              </a:rPr>
              <a:t>pact</a:t>
            </a:r>
            <a:endParaRPr>
              <a:solidFill>
                <a:srgbClr val="191919"/>
              </a:solidFill>
              <a:latin typeface="Calibri"/>
              <a:ea typeface="Calibri"/>
              <a:cs typeface="Calibri"/>
              <a:sym typeface="Calibri"/>
            </a:endParaRPr>
          </a:p>
        </p:txBody>
      </p:sp>
      <p:sp>
        <p:nvSpPr>
          <p:cNvPr id="227" name="Google Shape;227;g3e2b2c32063_2_0"/>
          <p:cNvSpPr txBox="1"/>
          <p:nvPr/>
        </p:nvSpPr>
        <p:spPr>
          <a:xfrm>
            <a:off x="971841" y="6215108"/>
            <a:ext cx="2134500" cy="215400"/>
          </a:xfrm>
          <a:prstGeom prst="rect">
            <a:avLst/>
          </a:prstGeom>
          <a:noFill/>
          <a:ln>
            <a:noFill/>
          </a:ln>
        </p:spPr>
        <p:txBody>
          <a:bodyPr anchorCtr="0" anchor="t" bIns="0" lIns="0" spcFirstLastPara="1" rIns="0" wrap="square" tIns="0">
            <a:spAutoFit/>
          </a:bodyPr>
          <a:lstStyle/>
          <a:p>
            <a:pPr indent="-317500" lvl="0" marL="457200" rtl="0" algn="l">
              <a:lnSpc>
                <a:spcPct val="173333"/>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Speed to market</a:t>
            </a:r>
            <a:endParaRPr>
              <a:solidFill>
                <a:srgbClr val="191919"/>
              </a:solidFill>
              <a:latin typeface="Calibri"/>
              <a:ea typeface="Calibri"/>
              <a:cs typeface="Calibri"/>
              <a:sym typeface="Calibri"/>
            </a:endParaRPr>
          </a:p>
        </p:txBody>
      </p:sp>
      <p:grpSp>
        <p:nvGrpSpPr>
          <p:cNvPr id="228" name="Google Shape;228;g3e2b2c32063_2_0"/>
          <p:cNvGrpSpPr/>
          <p:nvPr/>
        </p:nvGrpSpPr>
        <p:grpSpPr>
          <a:xfrm>
            <a:off x="8726646" y="1249308"/>
            <a:ext cx="2996473" cy="2563780"/>
            <a:chOff x="0" y="-28575"/>
            <a:chExt cx="1398000" cy="1105602"/>
          </a:xfrm>
        </p:grpSpPr>
        <p:sp>
          <p:nvSpPr>
            <p:cNvPr id="229" name="Google Shape;229;g3e2b2c32063_2_0"/>
            <p:cNvSpPr/>
            <p:nvPr/>
          </p:nvSpPr>
          <p:spPr>
            <a:xfrm>
              <a:off x="0" y="0"/>
              <a:ext cx="1397954" cy="1077027"/>
            </a:xfrm>
            <a:custGeom>
              <a:rect b="b" l="l" r="r" t="t"/>
              <a:pathLst>
                <a:path extrusionOk="0" h="1077027" w="1397954">
                  <a:moveTo>
                    <a:pt x="0" y="0"/>
                  </a:moveTo>
                  <a:lnTo>
                    <a:pt x="1397954" y="0"/>
                  </a:lnTo>
                  <a:lnTo>
                    <a:pt x="1397954" y="1077027"/>
                  </a:lnTo>
                  <a:lnTo>
                    <a:pt x="0" y="1077027"/>
                  </a:lnTo>
                  <a:close/>
                </a:path>
              </a:pathLst>
            </a:custGeom>
            <a:solidFill>
              <a:srgbClr val="FFCD78"/>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0" name="Google Shape;230;g3e2b2c32063_2_0"/>
            <p:cNvSpPr txBox="1"/>
            <p:nvPr/>
          </p:nvSpPr>
          <p:spPr>
            <a:xfrm>
              <a:off x="0" y="-28575"/>
              <a:ext cx="1398000" cy="11055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31" name="Google Shape;231;g3e2b2c32063_2_0"/>
          <p:cNvSpPr txBox="1"/>
          <p:nvPr/>
        </p:nvSpPr>
        <p:spPr>
          <a:xfrm>
            <a:off x="9035896" y="1540001"/>
            <a:ext cx="2377800" cy="2031900"/>
          </a:xfrm>
          <a:prstGeom prst="rect">
            <a:avLst/>
          </a:prstGeom>
          <a:no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1100"/>
              <a:buFont typeface="Arial"/>
              <a:buNone/>
            </a:pPr>
            <a:r>
              <a:rPr i="1" lang="en-US" sz="1800">
                <a:solidFill>
                  <a:schemeClr val="dk1"/>
                </a:solidFill>
                <a:latin typeface="Calibri"/>
                <a:ea typeface="Calibri"/>
                <a:cs typeface="Calibri"/>
                <a:sym typeface="Calibri"/>
              </a:rPr>
              <a:t>"We hear about a Rs. 2,000 crore project and have no structured way to figure out who in that project actually needs our coatings."</a:t>
            </a:r>
            <a:endParaRPr i="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i="1" sz="1800">
              <a:solidFill>
                <a:schemeClr val="dk1"/>
              </a:solidFill>
              <a:latin typeface="Calibri"/>
              <a:ea typeface="Calibri"/>
              <a:cs typeface="Calibri"/>
              <a:sym typeface="Calibri"/>
            </a:endParaRPr>
          </a:p>
        </p:txBody>
      </p:sp>
      <p:sp>
        <p:nvSpPr>
          <p:cNvPr id="232" name="Google Shape;232;g3e2b2c32063_2_0"/>
          <p:cNvSpPr/>
          <p:nvPr/>
        </p:nvSpPr>
        <p:spPr>
          <a:xfrm>
            <a:off x="2635625" y="5532501"/>
            <a:ext cx="5226300" cy="173100"/>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33" name="Google Shape;233;g3e2b2c32063_2_0"/>
          <p:cNvSpPr/>
          <p:nvPr/>
        </p:nvSpPr>
        <p:spPr>
          <a:xfrm>
            <a:off x="2635624" y="5873523"/>
            <a:ext cx="5226300" cy="173100"/>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34" name="Google Shape;234;g3e2b2c32063_2_0"/>
          <p:cNvSpPr/>
          <p:nvPr/>
        </p:nvSpPr>
        <p:spPr>
          <a:xfrm>
            <a:off x="2635624" y="6236935"/>
            <a:ext cx="5226300" cy="173100"/>
          </a:xfrm>
          <a:prstGeom prst="roundRect">
            <a:avLst>
              <a:gd fmla="val 16667" name="adj"/>
            </a:avLst>
          </a:prstGeom>
          <a:solidFill>
            <a:srgbClr val="FFF2CC"/>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35" name="Google Shape;235;g3e2b2c32063_2_0"/>
          <p:cNvSpPr/>
          <p:nvPr/>
        </p:nvSpPr>
        <p:spPr>
          <a:xfrm>
            <a:off x="2644768" y="5553171"/>
            <a:ext cx="4972200" cy="129900"/>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36" name="Google Shape;236;g3e2b2c32063_2_0"/>
          <p:cNvSpPr/>
          <p:nvPr/>
        </p:nvSpPr>
        <p:spPr>
          <a:xfrm>
            <a:off x="2635624" y="5881488"/>
            <a:ext cx="4652700" cy="156300"/>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37" name="Google Shape;237;g3e2b2c32063_2_0"/>
          <p:cNvSpPr/>
          <p:nvPr/>
        </p:nvSpPr>
        <p:spPr>
          <a:xfrm>
            <a:off x="2644589" y="6249146"/>
            <a:ext cx="3811200" cy="160800"/>
          </a:xfrm>
          <a:prstGeom prst="roundRect">
            <a:avLst>
              <a:gd fmla="val 16667"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38" name="Google Shape;238;g3e2b2c32063_2_0"/>
          <p:cNvSpPr txBox="1"/>
          <p:nvPr/>
        </p:nvSpPr>
        <p:spPr>
          <a:xfrm>
            <a:off x="4809741" y="3305922"/>
            <a:ext cx="39837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Challenges</a:t>
            </a:r>
            <a:endParaRPr>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US">
                <a:latin typeface="Calibri"/>
                <a:ea typeface="Calibri"/>
                <a:cs typeface="Calibri"/>
                <a:sym typeface="Calibri"/>
              </a:rPr>
              <a:t>Expensive research firms provide direction but not company-level leads</a:t>
            </a:r>
            <a:endParaRPr>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US">
                <a:latin typeface="Calibri"/>
                <a:ea typeface="Calibri"/>
                <a:cs typeface="Calibri"/>
                <a:sym typeface="Calibri"/>
              </a:rPr>
              <a:t>No structured way to translate macro signals into specific prospect targets</a:t>
            </a:r>
            <a:endParaRPr>
              <a:latin typeface="Calibri"/>
              <a:ea typeface="Calibri"/>
              <a:cs typeface="Calibri"/>
              <a:sym typeface="Calibri"/>
            </a:endParaRPr>
          </a:p>
          <a:p>
            <a:pPr indent="-317500" lvl="0" marL="457200" rtl="0" algn="l">
              <a:lnSpc>
                <a:spcPct val="100000"/>
              </a:lnSpc>
              <a:spcBef>
                <a:spcPts val="0"/>
              </a:spcBef>
              <a:spcAft>
                <a:spcPts val="0"/>
              </a:spcAft>
              <a:buSzPts val="1400"/>
              <a:buFont typeface="Calibri"/>
              <a:buChar char="●"/>
            </a:pPr>
            <a:r>
              <a:rPr lang="en-US">
                <a:latin typeface="Calibri"/>
                <a:ea typeface="Calibri"/>
                <a:cs typeface="Calibri"/>
                <a:sym typeface="Calibri"/>
              </a:rPr>
              <a:t>Board requires ROI proof before approving expansion, hard to build anecdotally</a:t>
            </a:r>
            <a:endParaRPr>
              <a:latin typeface="Calibri"/>
              <a:ea typeface="Calibri"/>
              <a:cs typeface="Calibri"/>
              <a:sym typeface="Calibri"/>
            </a:endParaRPr>
          </a:p>
        </p:txBody>
      </p:sp>
      <p:sp>
        <p:nvSpPr>
          <p:cNvPr id="239" name="Google Shape;239;g3e2b2c32063_2_0"/>
          <p:cNvSpPr txBox="1"/>
          <p:nvPr/>
        </p:nvSpPr>
        <p:spPr>
          <a:xfrm>
            <a:off x="828002" y="3309802"/>
            <a:ext cx="38112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Needs</a:t>
            </a:r>
            <a:endParaRPr>
              <a:latin typeface="Calibri"/>
              <a:ea typeface="Calibri"/>
              <a:cs typeface="Calibri"/>
              <a:sym typeface="Calibri"/>
            </a:endParaRPr>
          </a:p>
          <a:p>
            <a:pPr indent="-317500" lvl="0" marL="45720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Identify anchor clients in new geographies before expanding the sales team</a:t>
            </a:r>
            <a:endParaRPr>
              <a:solidFill>
                <a:srgbClr val="191919"/>
              </a:solidFill>
              <a:latin typeface="Calibri"/>
              <a:ea typeface="Calibri"/>
              <a:cs typeface="Calibri"/>
              <a:sym typeface="Calibri"/>
            </a:endParaRPr>
          </a:p>
          <a:p>
            <a:pPr indent="-317500" lvl="0" marL="45720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Track large EPC projects from the bidding stage onwards</a:t>
            </a:r>
            <a:endParaRPr>
              <a:solidFill>
                <a:srgbClr val="191919"/>
              </a:solidFill>
              <a:latin typeface="Calibri"/>
              <a:ea typeface="Calibri"/>
              <a:cs typeface="Calibri"/>
              <a:sym typeface="Calibri"/>
            </a:endParaRPr>
          </a:p>
          <a:p>
            <a:pPr indent="-317500" lvl="0" marL="457200" rtl="0" algn="l">
              <a:lnSpc>
                <a:spcPct val="100000"/>
              </a:lnSpc>
              <a:spcBef>
                <a:spcPts val="0"/>
              </a:spcBef>
              <a:spcAft>
                <a:spcPts val="0"/>
              </a:spcAft>
              <a:buClr>
                <a:srgbClr val="191919"/>
              </a:buClr>
              <a:buSzPts val="1400"/>
              <a:buFont typeface="Calibri"/>
              <a:buChar char="●"/>
            </a:pPr>
            <a:r>
              <a:rPr lang="en-US">
                <a:solidFill>
                  <a:srgbClr val="191919"/>
                </a:solidFill>
                <a:latin typeface="Calibri"/>
                <a:ea typeface="Calibri"/>
                <a:cs typeface="Calibri"/>
                <a:sym typeface="Calibri"/>
              </a:rPr>
              <a:t>Build data-backed board proposals for new segment entry</a:t>
            </a:r>
            <a:endParaRPr>
              <a:solidFill>
                <a:srgbClr val="191919"/>
              </a:solidFill>
              <a:latin typeface="Calibri"/>
              <a:ea typeface="Calibri"/>
              <a:cs typeface="Calibri"/>
              <a:sym typeface="Calibri"/>
            </a:endParaRPr>
          </a:p>
        </p:txBody>
      </p:sp>
      <p:sp>
        <p:nvSpPr>
          <p:cNvPr id="240" name="Google Shape;240;g3e2b2c32063_2_0"/>
          <p:cNvSpPr/>
          <p:nvPr/>
        </p:nvSpPr>
        <p:spPr>
          <a:xfrm>
            <a:off x="8726611" y="3977528"/>
            <a:ext cx="3042120" cy="2557075"/>
          </a:xfrm>
          <a:custGeom>
            <a:rect b="b" l="l" r="r" t="t"/>
            <a:pathLst>
              <a:path extrusionOk="0" h="744960" w="1004829">
                <a:moveTo>
                  <a:pt x="0" y="0"/>
                </a:moveTo>
                <a:lnTo>
                  <a:pt x="1004829" y="0"/>
                </a:lnTo>
                <a:lnTo>
                  <a:pt x="1004829" y="744960"/>
                </a:lnTo>
                <a:lnTo>
                  <a:pt x="0" y="744960"/>
                </a:lnTo>
                <a:close/>
              </a:path>
            </a:pathLst>
          </a:custGeom>
          <a:solidFill>
            <a:srgbClr val="FDF8EC"/>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g3e2b2c32063_2_0"/>
          <p:cNvSpPr txBox="1"/>
          <p:nvPr/>
        </p:nvSpPr>
        <p:spPr>
          <a:xfrm>
            <a:off x="4893592" y="1340020"/>
            <a:ext cx="35949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Short Description</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solidFill>
                  <a:srgbClr val="191919"/>
                </a:solidFill>
                <a:latin typeface="Calibri"/>
                <a:ea typeface="Calibri"/>
                <a:cs typeface="Calibri"/>
                <a:sym typeface="Calibri"/>
              </a:rPr>
              <a:t>Shalini leads expansion into new segments and geographies for a mid-size specialty coatings company. She’s commercially sharp and data-driven, but frustrated by market intelligence that’s too slow, expensive, or generic. She needs to identify high-potential companies in emerging corridors early.</a:t>
            </a:r>
            <a:endParaRPr>
              <a:solidFill>
                <a:srgbClr val="191919"/>
              </a:solidFill>
              <a:latin typeface="Calibri"/>
              <a:ea typeface="Calibri"/>
              <a:cs typeface="Calibri"/>
              <a:sym typeface="Calibri"/>
            </a:endParaRPr>
          </a:p>
        </p:txBody>
      </p:sp>
      <p:sp>
        <p:nvSpPr>
          <p:cNvPr id="242" name="Google Shape;242;g3e2b2c32063_2_0"/>
          <p:cNvSpPr txBox="1"/>
          <p:nvPr/>
        </p:nvSpPr>
        <p:spPr>
          <a:xfrm>
            <a:off x="8695825" y="3919295"/>
            <a:ext cx="3201600" cy="289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rgbClr val="191919"/>
                </a:solidFill>
                <a:latin typeface="Calibri"/>
                <a:ea typeface="Calibri"/>
                <a:cs typeface="Calibri"/>
                <a:sym typeface="Calibri"/>
              </a:rPr>
              <a:t>Day in the life of…</a:t>
            </a:r>
            <a:endParaRPr>
              <a:latin typeface="Calibri"/>
              <a:ea typeface="Calibri"/>
              <a:cs typeface="Calibri"/>
              <a:sym typeface="Calibri"/>
            </a:endParaRPr>
          </a:p>
          <a:p>
            <a:pPr indent="0" lvl="0" marL="0" marR="0" rtl="0" algn="l">
              <a:lnSpc>
                <a:spcPct val="100000"/>
              </a:lnSpc>
              <a:spcBef>
                <a:spcPts val="0"/>
              </a:spcBef>
              <a:spcAft>
                <a:spcPts val="0"/>
              </a:spcAft>
              <a:buNone/>
            </a:pPr>
            <a:r>
              <a:rPr lang="en-US">
                <a:latin typeface="Calibri"/>
                <a:ea typeface="Calibri"/>
                <a:cs typeface="Calibri"/>
                <a:sym typeface="Calibri"/>
              </a:rPr>
              <a:t>Shalini learns about ₹18,000 crore in new PLI incentives for specialty chemicals in Gujarat and sees potential for new plant construction and paint demand. She spends hours scanning news, tender portals, and LinkedIn to identify companies involved, but struggles to verify timelines and financial health. By the time the sales team follows up, the client has already engaged with a competitor.</a:t>
            </a:r>
            <a:endParaRPr>
              <a:latin typeface="Calibri"/>
              <a:ea typeface="Calibri"/>
              <a:cs typeface="Calibri"/>
              <a:sym typeface="Calibri"/>
            </a:endParaRPr>
          </a:p>
          <a:p>
            <a:pPr indent="0" lvl="0" marL="0" marR="0" rtl="0" algn="l">
              <a:lnSpc>
                <a:spcPct val="100000"/>
              </a:lnSpc>
              <a:spcBef>
                <a:spcPts val="0"/>
              </a:spcBef>
              <a:spcAft>
                <a:spcPts val="0"/>
              </a:spcAft>
              <a:buNone/>
            </a:pPr>
            <a:r>
              <a:t/>
            </a:r>
            <a:endParaRPr>
              <a:latin typeface="Calibri"/>
              <a:ea typeface="Calibri"/>
              <a:cs typeface="Calibri"/>
              <a:sym typeface="Calibri"/>
            </a:endParaRPr>
          </a:p>
        </p:txBody>
      </p:sp>
      <p:sp>
        <p:nvSpPr>
          <p:cNvPr id="243" name="Google Shape;243;g3e2b2c32063_2_0"/>
          <p:cNvSpPr txBox="1"/>
          <p:nvPr/>
        </p:nvSpPr>
        <p:spPr>
          <a:xfrm>
            <a:off x="874975" y="1444648"/>
            <a:ext cx="3303900" cy="1169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a:solidFill>
                  <a:srgbClr val="191919"/>
                </a:solidFill>
                <a:latin typeface="Calibri"/>
                <a:ea typeface="Calibri"/>
                <a:cs typeface="Calibri"/>
                <a:sym typeface="Calibri"/>
              </a:rPr>
              <a:t>Demographic Details</a:t>
            </a:r>
            <a:endParaRPr b="1">
              <a:solidFill>
                <a:srgbClr val="191919"/>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a:solidFill>
                  <a:srgbClr val="191919"/>
                </a:solidFill>
                <a:latin typeface="Calibri"/>
                <a:ea typeface="Calibri"/>
                <a:cs typeface="Calibri"/>
                <a:sym typeface="Calibri"/>
              </a:rPr>
              <a:t>Name: Shalini Iyer</a:t>
            </a:r>
            <a:endParaRPr>
              <a:solidFill>
                <a:srgbClr val="191919"/>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a:solidFill>
                  <a:srgbClr val="191919"/>
                </a:solidFill>
                <a:latin typeface="Calibri"/>
                <a:ea typeface="Calibri"/>
                <a:cs typeface="Calibri"/>
                <a:sym typeface="Calibri"/>
              </a:rPr>
              <a:t>Age: 38 Years</a:t>
            </a:r>
            <a:endParaRPr>
              <a:solidFill>
                <a:srgbClr val="191919"/>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a:solidFill>
                  <a:srgbClr val="191919"/>
                </a:solidFill>
                <a:latin typeface="Calibri"/>
                <a:ea typeface="Calibri"/>
                <a:cs typeface="Calibri"/>
                <a:sym typeface="Calibri"/>
              </a:rPr>
              <a:t>Occupation: Business Development Head</a:t>
            </a:r>
            <a:endParaRPr>
              <a:solidFill>
                <a:srgbClr val="191919"/>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US">
                <a:solidFill>
                  <a:srgbClr val="191919"/>
                </a:solidFill>
                <a:latin typeface="Calibri"/>
                <a:ea typeface="Calibri"/>
                <a:cs typeface="Calibri"/>
                <a:sym typeface="Calibri"/>
              </a:rPr>
              <a:t>Location: Mumb</a:t>
            </a:r>
            <a:r>
              <a:rPr lang="en-US">
                <a:solidFill>
                  <a:srgbClr val="191919"/>
                </a:solidFill>
                <a:latin typeface="Calibri"/>
                <a:ea typeface="Calibri"/>
                <a:cs typeface="Calibri"/>
                <a:sym typeface="Calibri"/>
              </a:rPr>
              <a:t>ai</a:t>
            </a:r>
            <a:endParaRPr>
              <a:solidFill>
                <a:srgbClr val="191919"/>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7"/>
          <p:cNvSpPr txBox="1"/>
          <p:nvPr>
            <p:ph type="ctrTitle"/>
          </p:nvPr>
        </p:nvSpPr>
        <p:spPr>
          <a:xfrm>
            <a:off x="4026525" y="2767284"/>
            <a:ext cx="8011565" cy="132343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lang="en-US" sz="3600">
                <a:solidFill>
                  <a:schemeClr val="lt1"/>
                </a:solidFill>
                <a:latin typeface="Arial"/>
                <a:ea typeface="Arial"/>
                <a:cs typeface="Arial"/>
                <a:sym typeface="Arial"/>
              </a:rPr>
              <a:t>THANK YOU!</a:t>
            </a:r>
            <a:endParaRPr sz="36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2021-02-03T07:15:33Z</dcterms:created>
  <dc:creator>Chetan Gangoli</dc:creator>
</cp:coreProperties>
</file>